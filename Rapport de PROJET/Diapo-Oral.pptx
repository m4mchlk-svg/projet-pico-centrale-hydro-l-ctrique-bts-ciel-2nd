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7" r:id="rId6"/>
    <p:sldId id="281" r:id="rId7"/>
    <p:sldId id="285" r:id="rId8"/>
    <p:sldId id="260" r:id="rId9"/>
    <p:sldId id="287" r:id="rId10"/>
    <p:sldId id="270" r:id="rId11"/>
    <p:sldId id="271" r:id="rId12"/>
    <p:sldId id="277" r:id="rId13"/>
    <p:sldId id="273" r:id="rId14"/>
    <p:sldId id="279" r:id="rId15"/>
    <p:sldId id="282" r:id="rId16"/>
    <p:sldId id="274" r:id="rId17"/>
    <p:sldId id="283" r:id="rId18"/>
    <p:sldId id="284" r:id="rId19"/>
    <p:sldId id="275" r:id="rId20"/>
    <p:sldId id="276" r:id="rId21"/>
    <p:sldId id="269" r:id="rId2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CD784F2-097A-4060-8FF3-6FB91EC3D7DB}" type="datetime1">
              <a:rPr lang="fr-FR" smtClean="0"/>
              <a:t>13/06/2026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BF86344-02EE-4788-B238-DABD819F9A49}" type="datetime1">
              <a:rPr lang="fr-FR" noProof="0" smtClean="0"/>
              <a:t>13/06/2026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9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18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orme libre : Forme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7" name="Triangle rectangle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8" name="Triangle droit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9" name="Triangle droit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</p:grpSp>
        <p:sp>
          <p:nvSpPr>
            <p:cNvPr id="9" name="Forme libre : Form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  <p:sp>
          <p:nvSpPr>
            <p:cNvPr id="11" name="Forme libre : Form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4" name="Forme libre : Form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Triangle droit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Forme libre : Forme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numéro de diapositive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</p:grpSp>
      <p:sp>
        <p:nvSpPr>
          <p:cNvPr id="29" name="Forme libre : Forme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3" name="Forme libre : Forme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les styles du texte du masque</a:t>
            </a:r>
          </a:p>
        </p:txBody>
      </p:sp>
      <p:sp>
        <p:nvSpPr>
          <p:cNvPr id="35" name="Espace réservé du numéro de diapositive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fr-FR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Guillemet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e+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8" name="Espace réservé du contenu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contenu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égori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0" name="Espace réservé d’image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1" name="Espace réservé d’image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2" name="Espace réservé d’image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3" name="Espace réservé d’image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4" name="Espace réservé d’image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8" name="Espace réservé du texte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ect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7" name="Espace réservé du texte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’image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Forme libre : Form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0" name="Forme libre : Form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1" name="Forme libre : Form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Forme libre : Form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orme libre : Form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26" name="Forme libre : Forme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0" name="Forme libre : Form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1" name="Espace réservé du numéro de diapositive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Triangle rectangle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8" name="Triangle droit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9" name="Triangle droit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Forme libre : Form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8" name="Forme libre : Form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9" name="Forme libre : Form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fr-FR" noProof="0">
                <a:latin typeface="+mj-lt"/>
              </a:rPr>
              <a:t>Modifiez le style du titre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orme libre : Form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4" name="Forme libre : Forme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 : Coin rogné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17" name="Rectangle : Coin rogné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8" name="Forme libre : Form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974185"/>
            <a:ext cx="7077456" cy="1243584"/>
          </a:xfrm>
        </p:spPr>
        <p:txBody>
          <a:bodyPr rtlCol="0"/>
          <a:lstStyle/>
          <a:p>
            <a:pPr algn="ctr" rtl="0"/>
            <a:r>
              <a:rPr lang="fr-FR" dirty="0">
                <a:latin typeface="Aptos" panose="020B0004020202020204" pitchFamily="34" charset="0"/>
              </a:rPr>
              <a:t>Présentation de Projet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5384" y="4217769"/>
            <a:ext cx="7077456" cy="868680"/>
          </a:xfrm>
        </p:spPr>
        <p:txBody>
          <a:bodyPr rtlCol="0"/>
          <a:lstStyle/>
          <a:p>
            <a:pPr marL="0" indent="0" rtl="0">
              <a:buNone/>
            </a:pPr>
            <a:r>
              <a:rPr lang="fr-FR" dirty="0"/>
              <a:t>Association Viseta</a:t>
            </a:r>
          </a:p>
        </p:txBody>
      </p:sp>
      <p:pic>
        <p:nvPicPr>
          <p:cNvPr id="4" name="Image3">
            <a:extLst>
              <a:ext uri="{FF2B5EF4-FFF2-40B4-BE49-F238E27FC236}">
                <a16:creationId xmlns:a16="http://schemas.microsoft.com/office/drawing/2014/main" id="{E6288DBD-94B1-9906-0CE7-28BF2D124BC4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5" name="Image 4" descr="Lycée Antoine Bourdelle | LinkedIn">
            <a:extLst>
              <a:ext uri="{FF2B5EF4-FFF2-40B4-BE49-F238E27FC236}">
                <a16:creationId xmlns:a16="http://schemas.microsoft.com/office/drawing/2014/main" id="{27766B2B-0F02-16BE-3B54-3D30DCC2C8D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775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CE62C54-799F-730D-3259-F3EECD0D7CC0}"/>
              </a:ext>
            </a:extLst>
          </p:cNvPr>
          <p:cNvSpPr txBox="1"/>
          <p:nvPr/>
        </p:nvSpPr>
        <p:spPr>
          <a:xfrm>
            <a:off x="0" y="6390913"/>
            <a:ext cx="221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Descamps Anaël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Sommaire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942376"/>
            <a:ext cx="11214099" cy="2973247"/>
          </a:xfrm>
        </p:spPr>
        <p:txBody>
          <a:bodyPr rtlCol="0"/>
          <a:lstStyle/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fr-FR" sz="2000" dirty="0"/>
              <a:t>Partie personnelle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fr-FR" sz="2000" dirty="0"/>
              <a:t>Collaboration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Diagrammes</a:t>
            </a:r>
          </a:p>
          <a:p>
            <a:pPr marL="342900" indent="-342900">
              <a:buAutoNum type="arabicParenR"/>
            </a:pPr>
            <a:r>
              <a:rPr lang="fr-FR" sz="2000" dirty="0"/>
              <a:t>Mesure et calcul de la consommation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Site et codes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Schéma et routage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Assemblage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Problèmes rencontrés</a:t>
            </a:r>
          </a:p>
          <a:p>
            <a:pPr marL="342900" indent="-342900" rtl="0">
              <a:buAutoNum type="arabicParenR"/>
            </a:pPr>
            <a:r>
              <a:rPr lang="fr-FR" sz="2000" dirty="0"/>
              <a:t>Conclusions</a:t>
            </a: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0E2C8BFF-5EF7-A4C9-FE63-64AD2DEB9075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009DB8-04E4-D584-1D92-4937CE63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1) Partie personnelle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449E35A-3696-3D4C-4E40-219FFE3A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3</a:t>
            </a:fld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5A64EC-877A-28A3-C013-B6FC61E22F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7562463" cy="4093243"/>
          </a:xfrm>
        </p:spPr>
        <p:txBody>
          <a:bodyPr/>
          <a:lstStyle/>
          <a:p>
            <a:r>
              <a:rPr lang="fr-FR" dirty="0"/>
              <a:t>Bilan de consommation : tableau comparatif consommation théorique vs mesurée (modes actif, repos, veille profonde)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Mise en place du module MPPT et du panneau photovoltaïque et validation de l’autonomie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Saisie de schéma et routage de la partie concernée du projet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Programme de test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Réalisation de l’IHM via une page Web fournie par le contrôleur principal (état du système ECVD et choix de la consigne du niveau d’eau)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Intégration des différentes fonctions dans le programme final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3">
            <a:extLst>
              <a:ext uri="{FF2B5EF4-FFF2-40B4-BE49-F238E27FC236}">
                <a16:creationId xmlns:a16="http://schemas.microsoft.com/office/drawing/2014/main" id="{DF3F3000-120A-0289-1520-3DD2AA2CD15F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323683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F1686A-EA10-2021-AEDE-EA9E04BE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2) Collaboration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6958540-228A-20FE-73C8-935BE0B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4</a:t>
            </a:fld>
            <a:endParaRPr lang="fr-FR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F85CBE9-E636-FEF5-EEE4-CC0B22DA2F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39" t="11635" r="62911" b="21224"/>
          <a:stretch>
            <a:fillRect/>
          </a:stretch>
        </p:blipFill>
        <p:spPr>
          <a:xfrm>
            <a:off x="137786" y="1856478"/>
            <a:ext cx="2755014" cy="435760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3BB021A-A6D3-A9E6-BC24-B34721791B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66" t="15090" r="-7403" b="-1193"/>
          <a:stretch>
            <a:fillRect/>
          </a:stretch>
        </p:blipFill>
        <p:spPr>
          <a:xfrm>
            <a:off x="2993008" y="1652133"/>
            <a:ext cx="9901830" cy="466294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B250A3E-1203-B3F6-D87D-43859DD711EE}"/>
              </a:ext>
            </a:extLst>
          </p:cNvPr>
          <p:cNvSpPr txBox="1"/>
          <p:nvPr/>
        </p:nvSpPr>
        <p:spPr>
          <a:xfrm>
            <a:off x="444500" y="1282801"/>
            <a:ext cx="836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Utilisation d’un GitHub pour le partage et l’avancement du projet</a:t>
            </a:r>
          </a:p>
        </p:txBody>
      </p:sp>
      <p:pic>
        <p:nvPicPr>
          <p:cNvPr id="4" name="Image3">
            <a:extLst>
              <a:ext uri="{FF2B5EF4-FFF2-40B4-BE49-F238E27FC236}">
                <a16:creationId xmlns:a16="http://schemas.microsoft.com/office/drawing/2014/main" id="{37E5D188-C6FB-4F93-2431-89CD3918A91E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745725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16005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3) Diagrammes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5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44500" y="1534284"/>
            <a:ext cx="6802438" cy="366712"/>
          </a:xfrm>
        </p:spPr>
        <p:txBody>
          <a:bodyPr rtlCol="0">
            <a:normAutofit fontScale="85000" lnSpcReduction="20000"/>
          </a:bodyPr>
          <a:lstStyle/>
          <a:p>
            <a:pPr marL="0" indent="0" rtl="0">
              <a:buNone/>
            </a:pPr>
            <a:r>
              <a:rPr lang="fr-FR" dirty="0">
                <a:solidFill>
                  <a:schemeClr val="bg1"/>
                </a:solidFill>
              </a:rPr>
              <a:t>Diagramme des cas d’utilisations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CB3B44-A56A-0F84-A876-1C7B1AB2A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493" y="2002501"/>
            <a:ext cx="6109517" cy="3777291"/>
          </a:xfrm>
          <a:prstGeom prst="rect">
            <a:avLst/>
          </a:prstGeom>
        </p:spPr>
      </p:pic>
      <p:pic>
        <p:nvPicPr>
          <p:cNvPr id="3" name="Image3">
            <a:extLst>
              <a:ext uri="{FF2B5EF4-FFF2-40B4-BE49-F238E27FC236}">
                <a16:creationId xmlns:a16="http://schemas.microsoft.com/office/drawing/2014/main" id="{C5FB0792-1BDB-54B5-D664-2235BD02FDC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3D699-0088-0955-C69B-5E69D4A2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3) Diagrammes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DE1F350-2A73-EC65-EAC9-3E73F26F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6</a:t>
            </a:fld>
            <a:endParaRPr lang="fr-FR" noProof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2B3382-AF20-7A4D-49FB-611B07546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773" y="1016156"/>
            <a:ext cx="8956509" cy="553906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4B6545D-DE13-F12A-D002-B7C13A0C9AAB}"/>
              </a:ext>
            </a:extLst>
          </p:cNvPr>
          <p:cNvSpPr txBox="1"/>
          <p:nvPr/>
        </p:nvSpPr>
        <p:spPr>
          <a:xfrm>
            <a:off x="111317" y="1494845"/>
            <a:ext cx="3295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Diagramme des exigences</a:t>
            </a:r>
            <a:endParaRPr lang="fr-FR" dirty="0"/>
          </a:p>
        </p:txBody>
      </p:sp>
      <p:pic>
        <p:nvPicPr>
          <p:cNvPr id="6" name="Image3">
            <a:extLst>
              <a:ext uri="{FF2B5EF4-FFF2-40B4-BE49-F238E27FC236}">
                <a16:creationId xmlns:a16="http://schemas.microsoft.com/office/drawing/2014/main" id="{4AB42D3F-4D5C-0A67-E8D5-2057BE33FB2B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61080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20A0403-F08D-4CDF-ACFF-5C7793B1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fr-FR" dirty="0"/>
              <a:t>4) Mesure et calcul de la consommation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2B0D8D-84B3-689B-3AF0-4CEC6454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7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22FD2FC-3598-3892-6CA0-0CDF8163C8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5056359" cy="4093243"/>
          </a:xfrm>
        </p:spPr>
        <p:txBody>
          <a:bodyPr/>
          <a:lstStyle/>
          <a:p>
            <a:r>
              <a:rPr lang="fr-FR" dirty="0"/>
              <a:t>Mesure de la consommation de chaque composant principal</a:t>
            </a:r>
          </a:p>
          <a:p>
            <a:pPr>
              <a:buFontTx/>
              <a:buChar char="-"/>
            </a:pPr>
            <a:r>
              <a:rPr lang="fr-FR" dirty="0"/>
              <a:t>Consommation maximale, au repos et valeurs fabricant (datasheet)</a:t>
            </a:r>
          </a:p>
          <a:p>
            <a:pPr>
              <a:buFontTx/>
              <a:buChar char="-"/>
            </a:pPr>
            <a:r>
              <a:rPr lang="fr-FR" dirty="0"/>
              <a:t>Composant le plus énergivore : moteur pas-à-pas (ancien moteur)</a:t>
            </a:r>
          </a:p>
          <a:p>
            <a:pPr>
              <a:buFontTx/>
              <a:buChar char="-"/>
            </a:pPr>
            <a:r>
              <a:rPr lang="fr-FR" dirty="0"/>
              <a:t>Évolution du courant du moteur pas-à-pas en fonction de la vitesse</a:t>
            </a:r>
          </a:p>
          <a:p>
            <a:pPr>
              <a:buFontTx/>
              <a:buChar char="-"/>
            </a:pPr>
            <a:r>
              <a:rPr lang="fr-FR" dirty="0"/>
              <a:t>Consommation se stabilise à partir d'un certain seuil  </a:t>
            </a:r>
          </a:p>
          <a:p>
            <a:pPr>
              <a:buFontTx/>
              <a:buChar char="-"/>
            </a:pPr>
            <a:r>
              <a:rPr lang="fr-FR" dirty="0"/>
              <a:t>Validation de la batterie 12V retenue pour l'autonomie du système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DD25736-22D6-C9FE-628C-510103EC0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859" y="3709056"/>
            <a:ext cx="6691141" cy="2496543"/>
          </a:xfrm>
          <a:prstGeom prst="rect">
            <a:avLst/>
          </a:prstGeom>
        </p:spPr>
      </p:pic>
      <p:pic>
        <p:nvPicPr>
          <p:cNvPr id="2" name="Image3">
            <a:extLst>
              <a:ext uri="{FF2B5EF4-FFF2-40B4-BE49-F238E27FC236}">
                <a16:creationId xmlns:a16="http://schemas.microsoft.com/office/drawing/2014/main" id="{D74908F7-D1B7-6EB7-8BE1-7DBE338F3464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94007CA-573C-F666-F277-FB840AE0E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714" y="1005998"/>
            <a:ext cx="6487430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44500" y="516005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5) Site et codes</a:t>
            </a:r>
          </a:p>
        </p:txBody>
      </p:sp>
      <p:sp>
        <p:nvSpPr>
          <p:cNvPr id="2" name="Numero diap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8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174155" y="1802271"/>
            <a:ext cx="11214099" cy="5365754"/>
          </a:xfrm>
        </p:spPr>
        <p:txBody>
          <a:bodyPr rtlCol="0"/>
          <a:lstStyle/>
          <a:p>
            <a:pPr marL="342900" indent="-342900" rtl="0"/>
            <a:r>
              <a:rPr lang="fr-FR" sz="1800" b="1" dirty="0">
                <a:solidFill>
                  <a:schemeClr val="bg1"/>
                </a:solidFill>
              </a:rPr>
              <a:t>Interface web embarquée (IHM)</a:t>
            </a: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Page HTML hébergée directement sur l’ESP32</a:t>
            </a:r>
          </a:p>
          <a:p>
            <a:pPr marL="342900" indent="0" rtl="0">
              <a:buNone/>
            </a:pPr>
            <a:endParaRPr lang="fr-FR" sz="1600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L’ESP32 crée son propre réseau Wi-Fi, accessible directement depuis un téléphone</a:t>
            </a:r>
          </a:p>
          <a:p>
            <a:pPr marL="342900" indent="0" rtl="0">
              <a:buNone/>
            </a:pPr>
            <a:endParaRPr lang="fr-FR" sz="1600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Affichage en temps réel : hauteur d’eau, tension batterie, courant solaire</a:t>
            </a:r>
          </a:p>
          <a:p>
            <a:pPr marL="342900" indent="0" rtl="0">
              <a:buNone/>
            </a:pPr>
            <a:endParaRPr lang="fr-FR" sz="1600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Envoi des données vers ThingSpeak toutes les 15 secondes</a:t>
            </a:r>
          </a:p>
          <a:p>
            <a:pPr marL="342900" indent="0" rtl="0">
              <a:buNone/>
            </a:pPr>
            <a:endParaRPr lang="fr-FR" sz="1600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Accessible sans box ni internet : idéal pour un site isolé comme un moulin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2D3288D-7D97-DB38-42F5-6811E9DF2773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9103148" y="1370845"/>
            <a:ext cx="2285106" cy="4784717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3">
            <a:extLst>
              <a:ext uri="{FF2B5EF4-FFF2-40B4-BE49-F238E27FC236}">
                <a16:creationId xmlns:a16="http://schemas.microsoft.com/office/drawing/2014/main" id="{42FFAD90-61C5-F78D-92BD-65C5C03026A4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02B1A51-0F48-A4D8-99E7-F737CCDE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5) Site et codes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76FC3BC-F03A-C119-2E1D-533EDAF1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9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4C90AA-8285-62FA-9A71-3FDFEC5972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3412" y="1206537"/>
            <a:ext cx="6718300" cy="4093243"/>
          </a:xfrm>
        </p:spPr>
        <p:txBody>
          <a:bodyPr/>
          <a:lstStyle/>
          <a:p>
            <a:pPr marL="342900" indent="-342900"/>
            <a:r>
              <a:rPr lang="fr-FR" dirty="0"/>
              <a:t>Algorigramme du site </a:t>
            </a:r>
          </a:p>
        </p:txBody>
      </p:sp>
      <p:pic>
        <p:nvPicPr>
          <p:cNvPr id="6" name="Image10">
            <a:extLst>
              <a:ext uri="{FF2B5EF4-FFF2-40B4-BE49-F238E27FC236}">
                <a16:creationId xmlns:a16="http://schemas.microsoft.com/office/drawing/2014/main" id="{9DFEBD3E-0D2F-3919-EC23-91AB697611F5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6051550" y="1558220"/>
            <a:ext cx="5696710" cy="4277090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3">
            <a:extLst>
              <a:ext uri="{FF2B5EF4-FFF2-40B4-BE49-F238E27FC236}">
                <a16:creationId xmlns:a16="http://schemas.microsoft.com/office/drawing/2014/main" id="{8025A8A9-ACD7-0E78-4FF2-7826C7DE7843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39B0169-1183-7CCE-E9ED-6BF2F10A0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39" y="1558220"/>
            <a:ext cx="4716657" cy="541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13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6) Schéma et routage</a:t>
            </a:r>
          </a:p>
        </p:txBody>
      </p:sp>
      <p:sp>
        <p:nvSpPr>
          <p:cNvPr id="2" name="Numer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10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82163" y="1492246"/>
            <a:ext cx="5834379" cy="5365754"/>
          </a:xfrm>
        </p:spPr>
        <p:txBody>
          <a:bodyPr rtlCol="0"/>
          <a:lstStyle/>
          <a:p>
            <a:pPr marL="342900" indent="-342900" rtl="0"/>
            <a:r>
              <a:rPr lang="fr-FR" sz="1800" b="1" dirty="0">
                <a:solidFill>
                  <a:schemeClr val="bg1"/>
                </a:solidFill>
              </a:rPr>
              <a:t>Saisie du schéma (Proteus 8)</a:t>
            </a:r>
          </a:p>
          <a:p>
            <a:pPr marL="0" indent="0" rtl="0">
              <a:buNone/>
            </a:pPr>
            <a:endParaRPr lang="fr-FR" sz="1800" b="1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Protection contre l’inversion de polarité : MOSFET</a:t>
            </a:r>
          </a:p>
          <a:p>
            <a:pPr marL="342900" indent="0" rtl="0">
              <a:buNone/>
            </a:pPr>
            <a:endParaRPr lang="fr-FR" sz="1600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MCP3021 convertisseur analogique numérique </a:t>
            </a:r>
          </a:p>
          <a:p>
            <a:pPr marL="342900" indent="0" rtl="0">
              <a:buNone/>
            </a:pPr>
            <a:endParaRPr lang="fr-FR" sz="1600" dirty="0">
              <a:solidFill>
                <a:schemeClr val="bg1"/>
              </a:solidFill>
            </a:endParaRPr>
          </a:p>
          <a:p>
            <a:pPr marL="685800" indent="-342900">
              <a:buFont typeface="Arial" panose="020B0604020202020204" pitchFamily="34" charset="0"/>
              <a:buChar char="-"/>
            </a:pPr>
            <a:r>
              <a:rPr lang="fr-FR" sz="1600" dirty="0">
                <a:solidFill>
                  <a:schemeClr val="bg1"/>
                </a:solidFill>
              </a:rPr>
              <a:t>Régulateur de tension a découpage (U3) : pour convertir la tension 12V en 5V</a:t>
            </a:r>
          </a:p>
          <a:p>
            <a:pPr marL="342900" indent="0">
              <a:buNone/>
            </a:pPr>
            <a:endParaRPr lang="fr-FR" sz="1600" dirty="0">
              <a:solidFill>
                <a:schemeClr val="bg1"/>
              </a:solidFill>
            </a:endParaRPr>
          </a:p>
          <a:p>
            <a:pPr marL="685800" indent="-342900">
              <a:buFont typeface="Arial" panose="020B0604020202020204" pitchFamily="34" charset="0"/>
              <a:buChar char="-"/>
            </a:pPr>
            <a:r>
              <a:rPr lang="fr-FR" sz="1600" dirty="0">
                <a:solidFill>
                  <a:schemeClr val="bg1"/>
                </a:solidFill>
              </a:rPr>
              <a:t>AZ1117 convertir la tension de 5V à 3V3</a:t>
            </a:r>
          </a:p>
          <a:p>
            <a:pPr marL="342900" indent="0">
              <a:buNone/>
            </a:pPr>
            <a:endParaRPr lang="fr-FR" sz="1600" dirty="0">
              <a:solidFill>
                <a:schemeClr val="bg1"/>
              </a:solidFill>
            </a:endParaRP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39F43569-A4E4-A5C1-B8A5-2C6D30801F13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AC3D760-46D6-B584-3ECA-AE5890646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165" y="1601531"/>
            <a:ext cx="6505672" cy="455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53B23-027D-6FFD-3B5A-83D011F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6) Schéma et routage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8B63523-11A3-4729-2E7D-0FF45A3D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11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25CFA3C-35FC-BEB4-5D1D-13B6FC5F6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449" y="1336662"/>
            <a:ext cx="9855842" cy="4579079"/>
          </a:xfrm>
        </p:spPr>
        <p:txBody>
          <a:bodyPr/>
          <a:lstStyle/>
          <a:p>
            <a:pPr marL="342900" indent="-342900"/>
            <a:r>
              <a:rPr lang="fr-FR" sz="1800" b="1" dirty="0"/>
              <a:t>Routage PCB</a:t>
            </a:r>
          </a:p>
          <a:p>
            <a:pPr marL="685800" indent="-342900">
              <a:buChar char="-"/>
            </a:pPr>
            <a:r>
              <a:rPr lang="fr-FR" dirty="0"/>
              <a:t>Séparation des plans de masse numérique (GND) et puissance (VBAT)</a:t>
            </a:r>
          </a:p>
          <a:p>
            <a:pPr marL="685800" indent="-342900">
              <a:buChar char="-"/>
            </a:pPr>
            <a:r>
              <a:rPr lang="fr-FR" dirty="0"/>
              <a:t>Condensateurs de découplage positionnés au plus près des circuits intégrés</a:t>
            </a:r>
          </a:p>
          <a:p>
            <a:pPr marL="685800" indent="-342900">
              <a:buChar char="-"/>
            </a:pPr>
            <a:r>
              <a:rPr lang="fr-FR" dirty="0"/>
              <a:t>Pistes de puissance élargies pour la tenue en courant</a:t>
            </a:r>
          </a:p>
          <a:p>
            <a:pPr marL="342900"/>
            <a:endParaRPr lang="fr-FR" dirty="0"/>
          </a:p>
          <a:p>
            <a:endParaRPr lang="fr-FR" dirty="0"/>
          </a:p>
        </p:txBody>
      </p:sp>
      <p:pic>
        <p:nvPicPr>
          <p:cNvPr id="6" name="Image11">
            <a:extLst>
              <a:ext uri="{FF2B5EF4-FFF2-40B4-BE49-F238E27FC236}">
                <a16:creationId xmlns:a16="http://schemas.microsoft.com/office/drawing/2014/main" id="{03751F16-E16D-390D-F127-3A05C9053BF7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68522" y="2696133"/>
            <a:ext cx="5390543" cy="4161867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8" name="Image13">
            <a:extLst>
              <a:ext uri="{FF2B5EF4-FFF2-40B4-BE49-F238E27FC236}">
                <a16:creationId xmlns:a16="http://schemas.microsoft.com/office/drawing/2014/main" id="{49BF50AB-83EF-9F0B-46A0-BE8B295B2D6C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96000" y="2696132"/>
            <a:ext cx="5390543" cy="4161867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4" name="Image3">
            <a:extLst>
              <a:ext uri="{FF2B5EF4-FFF2-40B4-BE49-F238E27FC236}">
                <a16:creationId xmlns:a16="http://schemas.microsoft.com/office/drawing/2014/main" id="{AA855E2D-0E92-FEEB-6A72-1E49F038BC55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3622537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525BBFD-30A2-2DA1-A3D7-DE0FE0C0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12</a:t>
            </a:fld>
            <a:endParaRPr lang="fr-FR" noProof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0399673-A7E8-2C5D-C81E-95C4BF310A09}"/>
              </a:ext>
            </a:extLst>
          </p:cNvPr>
          <p:cNvSpPr txBox="1">
            <a:spLocks/>
          </p:cNvSpPr>
          <p:nvPr/>
        </p:nvSpPr>
        <p:spPr>
          <a:xfrm>
            <a:off x="488950" y="495679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6) Schéma et routage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B4144BA-3C21-4C8F-7F5B-033A8E4456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7969" y="1792287"/>
            <a:ext cx="4838700" cy="363918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09F3028-47DD-B08A-5748-237D4BD1AD7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51600" y="1792287"/>
            <a:ext cx="4800600" cy="361886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2" name="Image3">
            <a:extLst>
              <a:ext uri="{FF2B5EF4-FFF2-40B4-BE49-F238E27FC236}">
                <a16:creationId xmlns:a16="http://schemas.microsoft.com/office/drawing/2014/main" id="{456ECEA6-A508-C2E8-9773-F5D67646C0EF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1746695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6) Assemblage de la carte</a:t>
            </a:r>
          </a:p>
        </p:txBody>
      </p:sp>
      <p:sp>
        <p:nvSpPr>
          <p:cNvPr id="2" name="Numer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13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346965" y="1655436"/>
            <a:ext cx="5314364" cy="5365754"/>
          </a:xfrm>
        </p:spPr>
        <p:txBody>
          <a:bodyPr rtlCol="0"/>
          <a:lstStyle/>
          <a:p>
            <a:pPr marL="342900" indent="-342900" rtl="0"/>
            <a:r>
              <a:rPr lang="fr-FR" sz="1800" b="1" dirty="0">
                <a:solidFill>
                  <a:schemeClr val="bg1"/>
                </a:solidFill>
              </a:rPr>
              <a:t>Réalisé dans les locaux de la Licence CPSE</a:t>
            </a:r>
          </a:p>
          <a:p>
            <a:pPr marL="0" indent="0" rtl="0">
              <a:buNone/>
            </a:pPr>
            <a:endParaRPr lang="fr-FR" sz="1800" b="1" dirty="0">
              <a:solidFill>
                <a:schemeClr val="bg1"/>
              </a:solidFill>
            </a:endParaRPr>
          </a:p>
          <a:p>
            <a:pPr rtl="0">
              <a:buFontTx/>
              <a:buChar char="-"/>
            </a:pPr>
            <a:r>
              <a:rPr lang="fr-FR" sz="1600" dirty="0">
                <a:solidFill>
                  <a:schemeClr val="bg1"/>
                </a:solidFill>
              </a:rPr>
              <a:t>  Sérigraphie de la pâte à braser</a:t>
            </a:r>
          </a:p>
          <a:p>
            <a:pPr rtl="0">
              <a:buFontTx/>
              <a:buChar char="-"/>
            </a:pPr>
            <a:endParaRPr lang="fr-FR" sz="1600" dirty="0">
              <a:solidFill>
                <a:schemeClr val="bg1"/>
              </a:solidFill>
            </a:endParaRPr>
          </a:p>
          <a:p>
            <a:pPr marL="3429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Pochoir métallique découpé précisément aux emplacements des pastilles PCB</a:t>
            </a:r>
          </a:p>
          <a:p>
            <a:pPr marL="342900" indent="-342900" rtl="0">
              <a:buChar char="-"/>
            </a:pPr>
            <a:endParaRPr lang="fr-FR" sz="1600" dirty="0">
              <a:solidFill>
                <a:schemeClr val="bg1"/>
              </a:solidFill>
            </a:endParaRPr>
          </a:p>
          <a:p>
            <a:pPr marL="342900" indent="-342900" rtl="0">
              <a:buChar char="-"/>
            </a:pPr>
            <a:r>
              <a:rPr lang="fr-FR" sz="1600" dirty="0">
                <a:solidFill>
                  <a:schemeClr val="bg1"/>
                </a:solidFill>
              </a:rPr>
              <a:t>Étalement à la raclette en un seul passage (port de gants obligatoire)</a:t>
            </a: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3BA7628B-65F9-BFF4-E7F4-97AEB55F4F23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BC96EF4-8E19-36F8-8F22-668026F0AA99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96000" y="2170816"/>
            <a:ext cx="2424540" cy="3184277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DF5FA14-D787-068A-7B65-4871C49C3615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806615" y="2687601"/>
            <a:ext cx="3038420" cy="2264821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06D6CE8-3B65-6F0D-18ED-C276E8C6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6) Assemblage de la carte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423C746-DF52-3609-6DDC-4B7F6475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14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520E02-64D1-85CD-A74F-C1A160C63E9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5346" y="1681771"/>
            <a:ext cx="10139402" cy="4092575"/>
          </a:xfrm>
        </p:spPr>
        <p:txBody>
          <a:bodyPr/>
          <a:lstStyle/>
          <a:p>
            <a:pPr marL="0" indent="0">
              <a:buNone/>
            </a:pPr>
            <a:r>
              <a:rPr lang="fr-FR" sz="1600" dirty="0">
                <a:solidFill>
                  <a:schemeClr val="bg1"/>
                </a:solidFill>
              </a:rPr>
              <a:t>Pose des composants : placeuse à aspiration manuelle et placeuse automatique</a:t>
            </a:r>
          </a:p>
          <a:p>
            <a:endParaRPr lang="fr-FR" dirty="0"/>
          </a:p>
        </p:txBody>
      </p:sp>
      <p:pic>
        <p:nvPicPr>
          <p:cNvPr id="6" name="drawing">
            <a:extLst>
              <a:ext uri="{FF2B5EF4-FFF2-40B4-BE49-F238E27FC236}">
                <a16:creationId xmlns:a16="http://schemas.microsoft.com/office/drawing/2014/main" id="{7F532EA4-BAB4-FB0B-9262-400F6822D790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15346" y="2416547"/>
            <a:ext cx="2163445" cy="289496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15">
            <a:extLst>
              <a:ext uri="{FF2B5EF4-FFF2-40B4-BE49-F238E27FC236}">
                <a16:creationId xmlns:a16="http://schemas.microsoft.com/office/drawing/2014/main" id="{A67FCFE6-ECAB-053B-BBF8-626A52667EAB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116268" y="2729975"/>
            <a:ext cx="2985770" cy="223837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56CABD4-D2AC-B450-4481-B824F74B548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539515" y="2142171"/>
            <a:ext cx="2449830" cy="3268345"/>
          </a:xfrm>
          <a:prstGeom prst="rect">
            <a:avLst/>
          </a:prstGeom>
          <a:noFill/>
          <a:ln>
            <a:noFill/>
            <a:prstDash/>
          </a:ln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1D706A35-C85E-F338-EB39-38F833E16B5A}"/>
              </a:ext>
            </a:extLst>
          </p:cNvPr>
          <p:cNvGrpSpPr/>
          <p:nvPr/>
        </p:nvGrpSpPr>
        <p:grpSpPr>
          <a:xfrm>
            <a:off x="9178231" y="2623240"/>
            <a:ext cx="2803525" cy="2481580"/>
            <a:chOff x="0" y="0"/>
            <a:chExt cx="2804153" cy="2481580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4CD03192-DA03-639C-FE3A-9C072E316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31" r="5256" b="-431"/>
            <a:stretch>
              <a:fillRect/>
            </a:stretch>
          </p:blipFill>
          <p:spPr>
            <a:xfrm>
              <a:off x="0" y="0"/>
              <a:ext cx="2792284" cy="2209638"/>
            </a:xfrm>
            <a:prstGeom prst="rect">
              <a:avLst/>
            </a:prstGeom>
            <a:noFill/>
            <a:ln>
              <a:noFill/>
              <a:prstDash/>
            </a:ln>
          </p:spPr>
        </p:pic>
        <p:sp>
          <p:nvSpPr>
            <p:cNvPr id="11" name="Zone de texte 7">
              <a:extLst>
                <a:ext uri="{FF2B5EF4-FFF2-40B4-BE49-F238E27FC236}">
                  <a16:creationId xmlns:a16="http://schemas.microsoft.com/office/drawing/2014/main" id="{9D2F30ED-472B-1FCD-6364-F11BBE8F7E2B}"/>
                </a:ext>
              </a:extLst>
            </p:cNvPr>
            <p:cNvSpPr txBox="1"/>
            <p:nvPr/>
          </p:nvSpPr>
          <p:spPr>
            <a:xfrm>
              <a:off x="11869" y="2208641"/>
              <a:ext cx="2792284" cy="272939"/>
            </a:xfrm>
            <a:prstGeom prst="rect">
              <a:avLst/>
            </a:prstGeom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algn="ctr">
                <a:buNone/>
              </a:pPr>
              <a:endParaRPr lang="fr-FR" sz="1200" kern="15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F"/>
              </a:endParaRPr>
            </a:p>
          </p:txBody>
        </p:sp>
      </p:grpSp>
      <p:pic>
        <p:nvPicPr>
          <p:cNvPr id="2" name="Image3">
            <a:extLst>
              <a:ext uri="{FF2B5EF4-FFF2-40B4-BE49-F238E27FC236}">
                <a16:creationId xmlns:a16="http://schemas.microsoft.com/office/drawing/2014/main" id="{E8639B04-F417-7164-1D0F-2EA401FD34C5}"/>
              </a:ext>
            </a:extLst>
          </p:cNvPr>
          <p:cNvPicPr/>
          <p:nvPr/>
        </p:nvPicPr>
        <p:blipFill>
          <a:blip r:embed="rId6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918875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DB4894-41F6-A546-C11E-436EE26A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6) Assemblage de la carte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D7D646B-A581-93C4-21B5-69DF7E45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fr-FR" noProof="0" smtClean="0"/>
              <a:pPr rtl="0"/>
              <a:t>15</a:t>
            </a:fld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CB5FD5-A46D-A0C6-578B-D1CB85DFF2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9968" y="1506116"/>
            <a:ext cx="7967980" cy="4093243"/>
          </a:xfrm>
        </p:spPr>
        <p:txBody>
          <a:bodyPr/>
          <a:lstStyle/>
          <a:p>
            <a:pPr>
              <a:buFontTx/>
              <a:buChar char="-"/>
            </a:pPr>
            <a:r>
              <a:rPr lang="fr-FR" dirty="0"/>
              <a:t>Refusion au four avec un profil thermique une montée progressive(choc thermique), pic ~250°C puis refroidissement dégressif </a:t>
            </a:r>
          </a:p>
          <a:p>
            <a:pPr>
              <a:buFontTx/>
              <a:buChar char="-"/>
            </a:pPr>
            <a:r>
              <a:rPr lang="fr-FR" dirty="0"/>
              <a:t>Inspection visuelle à la loupe : détection des ponts de soudure et soudures froides</a:t>
            </a:r>
          </a:p>
          <a:p>
            <a:pPr>
              <a:buFontTx/>
              <a:buChar char="-"/>
            </a:pPr>
            <a:r>
              <a:rPr lang="fr-FR" dirty="0"/>
              <a:t>Tests fonctionnels bloc par bloc (Lidar, moteur, batterie, serveur web)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3CF4D4-8CBD-BF3C-4315-566D21325AB3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116164" y="3351529"/>
            <a:ext cx="2287905" cy="3045460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D1CDD89-39FB-B550-6730-14FC88096F16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flipH="1">
            <a:off x="8177948" y="3150234"/>
            <a:ext cx="2434590" cy="324675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1026" name="Picture 2" descr="Type7 High Ag No Clean Solder Paste SAC305 Manufacturers and Suppliers  China - Pricelist - BBIEN Technology">
            <a:extLst>
              <a:ext uri="{FF2B5EF4-FFF2-40B4-BE49-F238E27FC236}">
                <a16:creationId xmlns:a16="http://schemas.microsoft.com/office/drawing/2014/main" id="{F67039D4-A1BE-DB24-E2F2-171E4C315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266" y="3505850"/>
            <a:ext cx="3859940" cy="268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3">
            <a:extLst>
              <a:ext uri="{FF2B5EF4-FFF2-40B4-BE49-F238E27FC236}">
                <a16:creationId xmlns:a16="http://schemas.microsoft.com/office/drawing/2014/main" id="{4095EE34-B323-C5AF-CD09-0117F4BFCD92}"/>
              </a:ext>
            </a:extLst>
          </p:cNvPr>
          <p:cNvPicPr/>
          <p:nvPr/>
        </p:nvPicPr>
        <p:blipFill>
          <a:blip r:embed="rId5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758409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7) Problèmes rencontrés</a:t>
            </a:r>
          </a:p>
        </p:txBody>
      </p:sp>
      <p:sp>
        <p:nvSpPr>
          <p:cNvPr id="2" name="Numer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16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38102" y="1752972"/>
            <a:ext cx="6903388" cy="5365754"/>
          </a:xfrm>
        </p:spPr>
        <p:txBody>
          <a:bodyPr rtlCol="0"/>
          <a:lstStyle/>
          <a:p>
            <a:pPr marL="685800" indent="-342900" rtl="0">
              <a:buChar char="-"/>
            </a:pPr>
            <a:r>
              <a:rPr lang="fr-FR" sz="1700" dirty="0">
                <a:solidFill>
                  <a:schemeClr val="bg1"/>
                </a:solidFill>
              </a:rPr>
              <a:t>Inversion des sorties moteur OUT1A / OUT1B au lieu de OUT1A/OUT2A</a:t>
            </a:r>
          </a:p>
          <a:p>
            <a:pPr marL="685800" indent="-342900" rtl="0">
              <a:buChar char="-"/>
            </a:pPr>
            <a:endParaRPr lang="fr-FR" sz="1700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700" dirty="0">
                <a:solidFill>
                  <a:schemeClr val="bg1"/>
                </a:solidFill>
              </a:rPr>
              <a:t>Underscores oubliés dans ESP_RESET et ESP_BOOT</a:t>
            </a:r>
          </a:p>
          <a:p>
            <a:pPr marL="342900" indent="0" rtl="0">
              <a:buNone/>
            </a:pPr>
            <a:endParaRPr lang="fr-FR" sz="1700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700" dirty="0">
                <a:solidFill>
                  <a:schemeClr val="bg1"/>
                </a:solidFill>
              </a:rPr>
              <a:t>Broche 18 du FT232RL non connectée au 3,3V</a:t>
            </a:r>
          </a:p>
          <a:p>
            <a:pPr marL="342900" indent="0" rtl="0">
              <a:buNone/>
            </a:pPr>
            <a:endParaRPr lang="fr-FR" sz="1700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700" dirty="0">
                <a:solidFill>
                  <a:schemeClr val="bg1"/>
                </a:solidFill>
              </a:rPr>
              <a:t>Empreinte incorrecte sur l’UMH3NTN</a:t>
            </a:r>
          </a:p>
          <a:p>
            <a:pPr marL="342900" indent="0" rtl="0">
              <a:buNone/>
            </a:pPr>
            <a:endParaRPr lang="fr-FR" sz="1700" dirty="0">
              <a:solidFill>
                <a:schemeClr val="bg1"/>
              </a:solidFill>
            </a:endParaRPr>
          </a:p>
          <a:p>
            <a:pPr marL="685800" indent="-342900" rtl="0">
              <a:buChar char="-"/>
            </a:pPr>
            <a:r>
              <a:rPr lang="fr-FR" sz="1700" dirty="0">
                <a:solidFill>
                  <a:schemeClr val="bg1"/>
                </a:solidFill>
              </a:rPr>
              <a:t>Hétérogénéité des empreintes de résistances</a:t>
            </a: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71FEBB30-A0F3-A6F5-A12D-FBB791923396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750326D-50BD-B591-77BB-E43AB2353A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74778" y="1428984"/>
            <a:ext cx="2801620" cy="244157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736503C-BCB2-EB67-00C8-6F90433958B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151575" y="3984266"/>
            <a:ext cx="3248025" cy="2133600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444500" y="407753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8) Conclusions</a:t>
            </a:r>
          </a:p>
        </p:txBody>
      </p:sp>
      <p:sp>
        <p:nvSpPr>
          <p:cNvPr id="2" name="Numero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17</a:t>
            </a:fld>
            <a:endParaRPr lang="fr-FR"/>
          </a:p>
        </p:txBody>
      </p:sp>
      <p:sp>
        <p:nvSpPr>
          <p:cNvPr id="5" name="Contenu"/>
          <p:cNvSpPr>
            <a:spLocks noGrp="1"/>
          </p:cNvSpPr>
          <p:nvPr>
            <p:ph type="body" sz="quarter" idx="13"/>
          </p:nvPr>
        </p:nvSpPr>
        <p:spPr>
          <a:xfrm>
            <a:off x="444500" y="1594476"/>
            <a:ext cx="11214099" cy="5365754"/>
          </a:xfrm>
        </p:spPr>
        <p:txBody>
          <a:bodyPr rtlCol="0"/>
          <a:lstStyle/>
          <a:p>
            <a:pPr marL="342900" indent="-342900" rtl="0"/>
            <a:r>
              <a:rPr lang="fr-FR" sz="1800" b="1" dirty="0">
                <a:solidFill>
                  <a:schemeClr val="bg1"/>
                </a:solidFill>
              </a:rPr>
              <a:t>Bilan</a:t>
            </a:r>
          </a:p>
          <a:p>
            <a:pPr marL="0" indent="0" rtl="0">
              <a:buNone/>
            </a:pPr>
            <a:r>
              <a:rPr lang="fr-FR" sz="1600" dirty="0">
                <a:solidFill>
                  <a:schemeClr val="bg1"/>
                </a:solidFill>
              </a:rPr>
              <a:t>Bilan de consommation et dimensionnement de l’alimentation</a:t>
            </a:r>
          </a:p>
          <a:p>
            <a:pPr marL="0" indent="0" rtl="0">
              <a:buNone/>
            </a:pPr>
            <a:r>
              <a:rPr lang="fr-FR" sz="1600" dirty="0">
                <a:solidFill>
                  <a:schemeClr val="bg1"/>
                </a:solidFill>
              </a:rPr>
              <a:t>Vérification et saisie du schéma d’alimentation sur Proteus</a:t>
            </a:r>
          </a:p>
          <a:p>
            <a:pPr marL="0" indent="0" rtl="0">
              <a:buNone/>
            </a:pPr>
            <a:r>
              <a:rPr lang="fr-FR" sz="1600" dirty="0">
                <a:solidFill>
                  <a:schemeClr val="bg1"/>
                </a:solidFill>
              </a:rPr>
              <a:t>Routage PCB et assemblage CMS en conditions industrielles</a:t>
            </a:r>
          </a:p>
          <a:p>
            <a:pPr marL="0" indent="0" rtl="0">
              <a:buNone/>
            </a:pPr>
            <a:r>
              <a:rPr lang="fr-FR" sz="1600" dirty="0">
                <a:solidFill>
                  <a:schemeClr val="bg1"/>
                </a:solidFill>
              </a:rPr>
              <a:t>Développement Micro-Python et une interface web embarquées sur ESP32</a:t>
            </a:r>
          </a:p>
          <a:p>
            <a:pPr marL="0" indent="0" rtl="0">
              <a:buNone/>
            </a:pPr>
            <a:endParaRPr lang="fr-FR" sz="1600" dirty="0">
              <a:solidFill>
                <a:schemeClr val="bg1"/>
              </a:solidFill>
            </a:endParaRPr>
          </a:p>
          <a:p>
            <a:pPr marL="342900" indent="-342900" rtl="0"/>
            <a:r>
              <a:rPr lang="fr-FR" sz="1800" b="1" dirty="0">
                <a:solidFill>
                  <a:schemeClr val="bg1"/>
                </a:solidFill>
              </a:rPr>
              <a:t>Résultats</a:t>
            </a:r>
          </a:p>
          <a:p>
            <a:pPr marL="0" indent="0" rtl="0">
              <a:buNone/>
            </a:pPr>
            <a:r>
              <a:rPr lang="fr-FR" sz="1600" dirty="0">
                <a:solidFill>
                  <a:schemeClr val="bg1"/>
                </a:solidFill>
              </a:rPr>
              <a:t>Système fonctionnel avec une page web accessible depuis un téléphone via Wi-Fi de l’ESP32, </a:t>
            </a:r>
          </a:p>
          <a:p>
            <a:pPr marL="0" indent="0" rtl="0">
              <a:buNone/>
            </a:pPr>
            <a:r>
              <a:rPr lang="fr-FR" sz="1600" dirty="0">
                <a:solidFill>
                  <a:schemeClr val="bg1"/>
                </a:solidFill>
              </a:rPr>
              <a:t>Approche d’un système électronique autonome : énergie, hardware et software simultanément</a:t>
            </a:r>
          </a:p>
        </p:txBody>
      </p:sp>
      <p:pic>
        <p:nvPicPr>
          <p:cNvPr id="3" name="Image3">
            <a:extLst>
              <a:ext uri="{FF2B5EF4-FFF2-40B4-BE49-F238E27FC236}">
                <a16:creationId xmlns:a16="http://schemas.microsoft.com/office/drawing/2014/main" id="{B220B7F7-2F76-7B85-391A-863443F243CA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 l="13596" t="25048" r="13807" b="27279"/>
          <a:stretch>
            <a:fillRect/>
          </a:stretch>
        </p:blipFill>
        <p:spPr>
          <a:xfrm>
            <a:off x="10088545" y="0"/>
            <a:ext cx="2103455" cy="783771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3201" y="2807208"/>
            <a:ext cx="4945598" cy="1243584"/>
          </a:xfrm>
        </p:spPr>
        <p:txBody>
          <a:bodyPr rtlCol="0"/>
          <a:lstStyle/>
          <a:p>
            <a:pPr algn="ctr" rtl="0"/>
            <a:r>
              <a:rPr lang="fr-FR" sz="8000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hème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498_TF66687569" id="{787900FF-6872-4441-B598-37355B1445EE}" vid="{F772BB80-56EE-4656-A7E3-611E117A189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992231-163D-4428-A2B8-DA1FE0274129}">
  <ds:schemaRefs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6dc4bcd6-49db-4c07-9060-8acfc67cef9f"/>
    <ds:schemaRef ds:uri="fb0879af-3eba-417a-a55a-ffe6dcd6ca77"/>
    <ds:schemaRef ds:uri="http://schemas.microsoft.com/office/2006/metadata/properties"/>
    <ds:schemaRef ds:uri="http://schemas.microsoft.com/sharepoint/v3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bleue moderne</Template>
  <TotalTime>1237</TotalTime>
  <Words>618</Words>
  <Application>Microsoft Office PowerPoint</Application>
  <PresentationFormat>Grand écran</PresentationFormat>
  <Paragraphs>122</Paragraphs>
  <Slides>18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Times New Roman</vt:lpstr>
      <vt:lpstr>Trade Gothic LT Pro</vt:lpstr>
      <vt:lpstr>Trebuchet MS</vt:lpstr>
      <vt:lpstr>Thème Office</vt:lpstr>
      <vt:lpstr>Présentation de Projet</vt:lpstr>
      <vt:lpstr>Sommaire</vt:lpstr>
      <vt:lpstr>1) Partie personnelle</vt:lpstr>
      <vt:lpstr>2) Collaboration</vt:lpstr>
      <vt:lpstr>3) Diagrammes</vt:lpstr>
      <vt:lpstr>3) Diagrammes</vt:lpstr>
      <vt:lpstr>4) Mesure et calcul de la consommation</vt:lpstr>
      <vt:lpstr>5) Site et codes</vt:lpstr>
      <vt:lpstr>5) Site et codes</vt:lpstr>
      <vt:lpstr>6) Schéma et routage</vt:lpstr>
      <vt:lpstr>6) Schéma et routage</vt:lpstr>
      <vt:lpstr>Présentation PowerPoint</vt:lpstr>
      <vt:lpstr>6) Assemblage de la carte</vt:lpstr>
      <vt:lpstr>6) Assemblage de la carte</vt:lpstr>
      <vt:lpstr>6) Assemblage de la carte</vt:lpstr>
      <vt:lpstr>7) Problèmes rencontrés</vt:lpstr>
      <vt:lpstr>8) Conclusions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Administrateur Local</dc:creator>
  <cp:lastModifiedBy>Anael Descamps</cp:lastModifiedBy>
  <cp:revision>10</cp:revision>
  <dcterms:created xsi:type="dcterms:W3CDTF">2026-06-04T07:34:07Z</dcterms:created>
  <dcterms:modified xsi:type="dcterms:W3CDTF">2026-06-13T14:03:45Z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