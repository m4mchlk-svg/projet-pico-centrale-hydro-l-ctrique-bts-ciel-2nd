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5"/>
    <p:sldId id="257" r:id="rId6"/>
    <p:sldId id="281" r:id="rId7"/>
    <p:sldId id="285" r:id="rId8"/>
    <p:sldId id="260" r:id="rId9"/>
    <p:sldId id="287" r:id="rId10"/>
    <p:sldId id="270" r:id="rId11"/>
    <p:sldId id="286" r:id="rId12"/>
    <p:sldId id="271" r:id="rId13"/>
    <p:sldId id="277" r:id="rId14"/>
    <p:sldId id="273" r:id="rId15"/>
    <p:sldId id="278" r:id="rId16"/>
    <p:sldId id="279" r:id="rId17"/>
    <p:sldId id="282" r:id="rId18"/>
    <p:sldId id="274" r:id="rId19"/>
    <p:sldId id="283" r:id="rId20"/>
    <p:sldId id="284" r:id="rId21"/>
    <p:sldId id="275" r:id="rId22"/>
    <p:sldId id="276" r:id="rId23"/>
    <p:sldId id="269" r:id="rId24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3350"/>
    <a:srgbClr val="0C4360"/>
    <a:srgbClr val="1B6872"/>
    <a:srgbClr val="63B7C6"/>
    <a:srgbClr val="002136"/>
    <a:srgbClr val="0C75AC"/>
    <a:srgbClr val="0024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0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>
            <a:extLst>
              <a:ext uri="{FF2B5EF4-FFF2-40B4-BE49-F238E27FC236}">
                <a16:creationId xmlns:a16="http://schemas.microsoft.com/office/drawing/2014/main" id="{E62FF6B6-4F8A-40F7-B5F4-FC3996824D7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910A999-F365-48DF-976A-0517FE0454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CD784F2-097A-4060-8FF3-6FB91EC3D7DB}" type="datetime1">
              <a:rPr lang="fr-FR" smtClean="0"/>
              <a:t>11/06/2026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8735C90-ADBF-4B9E-BE88-E1C8F83EB4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2506A01-6D0A-45EF-A584-05A3361D66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831430A-4AA4-45C8-AC23-CD6B61C41A4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990097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BF86344-02EE-4788-B238-DABD819F9A49}" type="datetime1">
              <a:rPr lang="fr-FR" noProof="0" smtClean="0"/>
              <a:t>11/06/2026</a:t>
            </a:fld>
            <a:endParaRPr lang="fr-FR" noProof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1734D747-9380-41EE-9946-EC9EC0CA5D1E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8277271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1734D747-9380-41EE-9946-EC9EC0CA5D1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3935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1734D747-9380-41EE-9946-EC9EC0CA5D1E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814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1734D747-9380-41EE-9946-EC9EC0CA5D1E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096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1734D747-9380-41EE-9946-EC9EC0CA5D1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5186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 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4CA15AFD-4983-47DD-9ED0-D3B27E5A096F}"/>
              </a:ext>
            </a:extLst>
          </p:cNvPr>
          <p:cNvGrpSpPr/>
          <p:nvPr userDrawn="1"/>
        </p:nvGrpSpPr>
        <p:grpSpPr>
          <a:xfrm>
            <a:off x="-1604709" y="-3756"/>
            <a:ext cx="13796710" cy="6861756"/>
            <a:chOff x="-1604709" y="-3756"/>
            <a:chExt cx="13796710" cy="6861756"/>
          </a:xfrm>
        </p:grpSpPr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2222D5E2-E9B4-4180-98B8-4E514C9ADB28}"/>
                </a:ext>
              </a:extLst>
            </p:cNvPr>
            <p:cNvGrpSpPr/>
            <p:nvPr/>
          </p:nvGrpSpPr>
          <p:grpSpPr>
            <a:xfrm>
              <a:off x="-16298" y="0"/>
              <a:ext cx="12208299" cy="6858000"/>
              <a:chOff x="-16298" y="0"/>
              <a:chExt cx="12208299" cy="6858000"/>
            </a:xfrm>
          </p:grpSpPr>
          <p:sp>
            <p:nvSpPr>
              <p:cNvPr id="15" name="Forme libre : Forme 14">
                <a:extLst>
                  <a:ext uri="{FF2B5EF4-FFF2-40B4-BE49-F238E27FC236}">
                    <a16:creationId xmlns:a16="http://schemas.microsoft.com/office/drawing/2014/main" id="{41E10E1E-5268-4F03-BA64-07E19DE26739}"/>
                  </a:ext>
                </a:extLst>
              </p:cNvPr>
              <p:cNvSpPr/>
              <p:nvPr/>
            </p:nvSpPr>
            <p:spPr>
              <a:xfrm flipH="1">
                <a:off x="-16297" y="0"/>
                <a:ext cx="12208298" cy="6858000"/>
              </a:xfrm>
              <a:custGeom>
                <a:avLst/>
                <a:gdLst>
                  <a:gd name="connsiteX0" fmla="*/ 8574289 w 12208298"/>
                  <a:gd name="connsiteY0" fmla="*/ 0 h 6858000"/>
                  <a:gd name="connsiteX1" fmla="*/ 0 w 12208298"/>
                  <a:gd name="connsiteY1" fmla="*/ 0 h 6858000"/>
                  <a:gd name="connsiteX2" fmla="*/ 0 w 12208298"/>
                  <a:gd name="connsiteY2" fmla="*/ 6858000 h 6858000"/>
                  <a:gd name="connsiteX3" fmla="*/ 532109 w 12208298"/>
                  <a:gd name="connsiteY3" fmla="*/ 6858000 h 6858000"/>
                  <a:gd name="connsiteX4" fmla="*/ 11495317 w 12208298"/>
                  <a:gd name="connsiteY4" fmla="*/ 6858000 h 6858000"/>
                  <a:gd name="connsiteX5" fmla="*/ 12208298 w 12208298"/>
                  <a:gd name="connsiteY5" fmla="*/ 6858000 h 6858000"/>
                  <a:gd name="connsiteX6" fmla="*/ 12208298 w 12208298"/>
                  <a:gd name="connsiteY6" fmla="*/ 3146781 h 6858000"/>
                  <a:gd name="connsiteX7" fmla="*/ 10353284 w 12208298"/>
                  <a:gd name="connsiteY7" fmla="*/ 1291767 h 6858000"/>
                  <a:gd name="connsiteX8" fmla="*/ 9866056 w 12208298"/>
                  <a:gd name="connsiteY8" fmla="*/ 1291767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208298" h="6858000">
                    <a:moveTo>
                      <a:pt x="8574289" y="0"/>
                    </a:moveTo>
                    <a:lnTo>
                      <a:pt x="0" y="0"/>
                    </a:lnTo>
                    <a:lnTo>
                      <a:pt x="0" y="6858000"/>
                    </a:lnTo>
                    <a:lnTo>
                      <a:pt x="532109" y="6858000"/>
                    </a:lnTo>
                    <a:lnTo>
                      <a:pt x="11495317" y="6858000"/>
                    </a:lnTo>
                    <a:lnTo>
                      <a:pt x="12208298" y="6858000"/>
                    </a:lnTo>
                    <a:lnTo>
                      <a:pt x="12208298" y="3146781"/>
                    </a:lnTo>
                    <a:lnTo>
                      <a:pt x="10353284" y="1291767"/>
                    </a:lnTo>
                    <a:lnTo>
                      <a:pt x="9866056" y="1291767"/>
                    </a:lnTo>
                    <a:close/>
                  </a:path>
                </a:pathLst>
              </a:custGeom>
              <a:solidFill>
                <a:schemeClr val="accent2">
                  <a:alpha val="7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6" name="Forme libre : Forme 15">
                <a:extLst>
                  <a:ext uri="{FF2B5EF4-FFF2-40B4-BE49-F238E27FC236}">
                    <a16:creationId xmlns:a16="http://schemas.microsoft.com/office/drawing/2014/main" id="{B989C45D-BDFF-418F-BE79-03FF70015770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pattFill prst="wdDnDiag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7" name="Triangle rectangle 16">
                <a:extLst>
                  <a:ext uri="{FF2B5EF4-FFF2-40B4-BE49-F238E27FC236}">
                    <a16:creationId xmlns:a16="http://schemas.microsoft.com/office/drawing/2014/main" id="{8DCD5806-2A2F-4ABF-8057-245681C498E6}"/>
                  </a:ext>
                </a:extLst>
              </p:cNvPr>
              <p:cNvSpPr/>
              <p:nvPr/>
            </p:nvSpPr>
            <p:spPr>
              <a:xfrm rot="16200000" flipH="1" flipV="1">
                <a:off x="24625" y="-4746"/>
                <a:ext cx="2819399" cy="2828891"/>
              </a:xfrm>
              <a:prstGeom prst="rtTriangl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8" name="Triangle droit 17">
                <a:extLst>
                  <a:ext uri="{FF2B5EF4-FFF2-40B4-BE49-F238E27FC236}">
                    <a16:creationId xmlns:a16="http://schemas.microsoft.com/office/drawing/2014/main" id="{3A93038F-E9E4-4FFD-B3DF-28DB7C2C1490}"/>
                  </a:ext>
                </a:extLst>
              </p:cNvPr>
              <p:cNvSpPr/>
              <p:nvPr/>
            </p:nvSpPr>
            <p:spPr>
              <a:xfrm rot="16200000" flipH="1" flipV="1">
                <a:off x="4418" y="-4422"/>
                <a:ext cx="2627088" cy="2635933"/>
              </a:xfrm>
              <a:prstGeom prst="rtTriangle">
                <a:avLst/>
              </a:prstGeom>
              <a:pattFill prst="dkHorz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9" name="Triangle droit 18">
                <a:extLst>
                  <a:ext uri="{FF2B5EF4-FFF2-40B4-BE49-F238E27FC236}">
                    <a16:creationId xmlns:a16="http://schemas.microsoft.com/office/drawing/2014/main" id="{5DEA1E02-BBD0-4AE3-AF22-433B90272178}"/>
                  </a:ext>
                </a:extLst>
              </p:cNvPr>
              <p:cNvSpPr/>
              <p:nvPr/>
            </p:nvSpPr>
            <p:spPr>
              <a:xfrm rot="16200000" flipH="1" flipV="1">
                <a:off x="-12263" y="-4034"/>
                <a:ext cx="2397087" cy="2405158"/>
              </a:xfrm>
              <a:prstGeom prst="rtTriangle">
                <a:avLst/>
              </a:prstGeom>
              <a:solidFill>
                <a:schemeClr val="accent2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20" name="Forme libre : Forme 19">
                <a:extLst>
                  <a:ext uri="{FF2B5EF4-FFF2-40B4-BE49-F238E27FC236}">
                    <a16:creationId xmlns:a16="http://schemas.microsoft.com/office/drawing/2014/main" id="{0027A677-9ACB-4264-B148-4806678FB83F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</p:grpSp>
        <p:sp>
          <p:nvSpPr>
            <p:cNvPr id="9" name="Forme libre : Forme 12">
              <a:extLst>
                <a:ext uri="{FF2B5EF4-FFF2-40B4-BE49-F238E27FC236}">
                  <a16:creationId xmlns:a16="http://schemas.microsoft.com/office/drawing/2014/main" id="{E3AAB79D-382D-4A95-965E-526B6A681DA7}"/>
                </a:ext>
              </a:extLst>
            </p:cNvPr>
            <p:cNvSpPr/>
            <p:nvPr/>
          </p:nvSpPr>
          <p:spPr>
            <a:xfrm rot="18900000" flipH="1">
              <a:off x="-1604709" y="1397837"/>
              <a:ext cx="3211378" cy="3211378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C0A22127-2B4A-4B15-B0A9-F019A30347A1}"/>
                </a:ext>
              </a:extLst>
            </p:cNvPr>
            <p:cNvSpPr/>
            <p:nvPr/>
          </p:nvSpPr>
          <p:spPr>
            <a:xfrm rot="18900000">
              <a:off x="-861777" y="-3756"/>
              <a:ext cx="2676646" cy="1356876"/>
            </a:xfrm>
            <a:custGeom>
              <a:avLst/>
              <a:gdLst>
                <a:gd name="connsiteX0" fmla="*/ 1319770 w 2676646"/>
                <a:gd name="connsiteY0" fmla="*/ 0 h 1356876"/>
                <a:gd name="connsiteX1" fmla="*/ 2676646 w 2676646"/>
                <a:gd name="connsiteY1" fmla="*/ 1356876 h 1356876"/>
                <a:gd name="connsiteX2" fmla="*/ 0 w 2676646"/>
                <a:gd name="connsiteY2" fmla="*/ 1356876 h 1356876"/>
                <a:gd name="connsiteX3" fmla="*/ 0 w 2676646"/>
                <a:gd name="connsiteY3" fmla="*/ 1319770 h 135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6646" h="1356876">
                  <a:moveTo>
                    <a:pt x="1319770" y="0"/>
                  </a:moveTo>
                  <a:lnTo>
                    <a:pt x="2676646" y="1356876"/>
                  </a:lnTo>
                  <a:lnTo>
                    <a:pt x="0" y="1356876"/>
                  </a:lnTo>
                  <a:lnTo>
                    <a:pt x="0" y="1319770"/>
                  </a:lnTo>
                  <a:close/>
                </a:path>
              </a:pathLst>
            </a:custGeom>
            <a:pattFill prst="wdUpDiag">
              <a:fgClr>
                <a:schemeClr val="accent2"/>
              </a:fgClr>
              <a:bgClr>
                <a:schemeClr val="accent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noProof="0"/>
            </a:p>
          </p:txBody>
        </p:sp>
        <p:sp>
          <p:nvSpPr>
            <p:cNvPr id="11" name="Forme libre : Forme 12">
              <a:extLst>
                <a:ext uri="{FF2B5EF4-FFF2-40B4-BE49-F238E27FC236}">
                  <a16:creationId xmlns:a16="http://schemas.microsoft.com/office/drawing/2014/main" id="{F04D9FDC-1B67-4254-9535-CD32E81F0C3E}"/>
                </a:ext>
              </a:extLst>
            </p:cNvPr>
            <p:cNvSpPr/>
            <p:nvPr/>
          </p:nvSpPr>
          <p:spPr>
            <a:xfrm rot="13500000">
              <a:off x="-1226102" y="1737462"/>
              <a:ext cx="2416016" cy="2416016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0A86C4EA-4CF8-4531-845D-4FCB1E2F7422}"/>
                </a:ext>
              </a:extLst>
            </p:cNvPr>
            <p:cNvGrpSpPr/>
            <p:nvPr/>
          </p:nvGrpSpPr>
          <p:grpSpPr>
            <a:xfrm>
              <a:off x="-760406" y="4672937"/>
              <a:ext cx="1520812" cy="1520812"/>
              <a:chOff x="-1604709" y="3012880"/>
              <a:chExt cx="3211378" cy="3211378"/>
            </a:xfrm>
          </p:grpSpPr>
          <p:sp>
            <p:nvSpPr>
              <p:cNvPr id="13" name="Forme libre : Forme 12">
                <a:extLst>
                  <a:ext uri="{FF2B5EF4-FFF2-40B4-BE49-F238E27FC236}">
                    <a16:creationId xmlns:a16="http://schemas.microsoft.com/office/drawing/2014/main" id="{1101B195-C112-4D20-8D19-4D22479B150D}"/>
                  </a:ext>
                </a:extLst>
              </p:cNvPr>
              <p:cNvSpPr/>
              <p:nvPr/>
            </p:nvSpPr>
            <p:spPr>
              <a:xfrm rot="18900000" flipH="1">
                <a:off x="-1604709" y="3012880"/>
                <a:ext cx="3211378" cy="3211378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4" name="Forme libre : Forme 12">
                <a:extLst>
                  <a:ext uri="{FF2B5EF4-FFF2-40B4-BE49-F238E27FC236}">
                    <a16:creationId xmlns:a16="http://schemas.microsoft.com/office/drawing/2014/main" id="{CA755F1F-9955-4CBB-8F34-F7801CA44CE7}"/>
                  </a:ext>
                </a:extLst>
              </p:cNvPr>
              <p:cNvSpPr/>
              <p:nvPr/>
            </p:nvSpPr>
            <p:spPr>
              <a:xfrm rot="13500000">
                <a:off x="-1226102" y="3352505"/>
                <a:ext cx="2416016" cy="2416016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wdDnDiag">
                <a:fgClr>
                  <a:schemeClr val="accent1">
                    <a:lumMod val="60000"/>
                    <a:lumOff val="40000"/>
                  </a:schemeClr>
                </a:fgClr>
                <a:bgClr>
                  <a:schemeClr val="accent2">
                    <a:lumMod val="50000"/>
                  </a:schemeClr>
                </a:bgClr>
              </a:patt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</p:grp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761488" y="2395728"/>
            <a:ext cx="7077456" cy="1243584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600" b="1" dirty="0">
                <a:solidFill>
                  <a:schemeClr val="accent2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3D2DEF0-A0B0-4CFE-B67D-A9D75E236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1488" y="3721608"/>
            <a:ext cx="7077456" cy="8686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GB" sz="1800" spc="3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 rtl="0"/>
            <a:r>
              <a:rPr lang="fr-FR" noProof="0"/>
              <a:t>Modifiez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436959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838D16-809E-4EB1-8C0C-0E63D813911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43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01FEB333-94B4-4E53-9019-D584810903BB}"/>
              </a:ext>
            </a:extLst>
          </p:cNvPr>
          <p:cNvSpPr/>
          <p:nvPr userDrawn="1"/>
        </p:nvSpPr>
        <p:spPr>
          <a:xfrm>
            <a:off x="0" y="0"/>
            <a:ext cx="12192000" cy="6862745"/>
          </a:xfrm>
          <a:custGeom>
            <a:avLst/>
            <a:gdLst>
              <a:gd name="connsiteX0" fmla="*/ 0 w 12192000"/>
              <a:gd name="connsiteY0" fmla="*/ 0 h 6849743"/>
              <a:gd name="connsiteX1" fmla="*/ 7554712 w 12192000"/>
              <a:gd name="connsiteY1" fmla="*/ 0 h 6849743"/>
              <a:gd name="connsiteX2" fmla="*/ 10266645 w 12192000"/>
              <a:gd name="connsiteY2" fmla="*/ 2711934 h 6849743"/>
              <a:gd name="connsiteX3" fmla="*/ 11289529 w 12192000"/>
              <a:gd name="connsiteY3" fmla="*/ 2711934 h 6849743"/>
              <a:gd name="connsiteX4" fmla="*/ 12191999 w 12192000"/>
              <a:gd name="connsiteY4" fmla="*/ 3614404 h 6849743"/>
              <a:gd name="connsiteX5" fmla="*/ 12192000 w 12192000"/>
              <a:gd name="connsiteY5" fmla="*/ 6849743 h 6849743"/>
              <a:gd name="connsiteX6" fmla="*/ 0 w 12192000"/>
              <a:gd name="connsiteY6" fmla="*/ 6849743 h 684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49743">
                <a:moveTo>
                  <a:pt x="0" y="0"/>
                </a:moveTo>
                <a:lnTo>
                  <a:pt x="7554712" y="0"/>
                </a:lnTo>
                <a:lnTo>
                  <a:pt x="10266645" y="2711934"/>
                </a:lnTo>
                <a:lnTo>
                  <a:pt x="11289529" y="2711934"/>
                </a:lnTo>
                <a:lnTo>
                  <a:pt x="12191999" y="3614404"/>
                </a:lnTo>
                <a:lnTo>
                  <a:pt x="12192000" y="6849743"/>
                </a:lnTo>
                <a:lnTo>
                  <a:pt x="0" y="6849743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A59B9489-0CD9-4DB7-AC82-6E7867F91403}"/>
              </a:ext>
            </a:extLst>
          </p:cNvPr>
          <p:cNvSpPr/>
          <p:nvPr userDrawn="1"/>
        </p:nvSpPr>
        <p:spPr>
          <a:xfrm rot="16200000" flipV="1">
            <a:off x="2626805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Triangle droit 9">
            <a:extLst>
              <a:ext uri="{FF2B5EF4-FFF2-40B4-BE49-F238E27FC236}">
                <a16:creationId xmlns:a16="http://schemas.microsoft.com/office/drawing/2014/main" id="{A55D1C76-C591-4FA5-9780-87AB6B37C0FA}"/>
              </a:ext>
            </a:extLst>
          </p:cNvPr>
          <p:cNvSpPr/>
          <p:nvPr userDrawn="1"/>
        </p:nvSpPr>
        <p:spPr>
          <a:xfrm rot="5400000" flipV="1">
            <a:off x="5851010" y="-10649"/>
            <a:ext cx="6326154" cy="6347453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1" name="Forme libre : Forme 10">
            <a:extLst>
              <a:ext uri="{FF2B5EF4-FFF2-40B4-BE49-F238E27FC236}">
                <a16:creationId xmlns:a16="http://schemas.microsoft.com/office/drawing/2014/main" id="{A7DC1D12-670F-4235-8791-FA8C2B330871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859569CF-FDAC-47C4-A0F5-296F7117C398}"/>
              </a:ext>
            </a:extLst>
          </p:cNvPr>
          <p:cNvSpPr/>
          <p:nvPr userDrawn="1"/>
        </p:nvSpPr>
        <p:spPr>
          <a:xfrm rot="2700000">
            <a:off x="9668984" y="1404392"/>
            <a:ext cx="4406148" cy="5299239"/>
          </a:xfrm>
          <a:custGeom>
            <a:avLst/>
            <a:gdLst>
              <a:gd name="connsiteX0" fmla="*/ 0 w 4406148"/>
              <a:gd name="connsiteY0" fmla="*/ 0 h 5299239"/>
              <a:gd name="connsiteX1" fmla="*/ 4406148 w 4406148"/>
              <a:gd name="connsiteY1" fmla="*/ 4406147 h 5299239"/>
              <a:gd name="connsiteX2" fmla="*/ 3513056 w 4406148"/>
              <a:gd name="connsiteY2" fmla="*/ 5299239 h 5299239"/>
              <a:gd name="connsiteX3" fmla="*/ 1 w 4406148"/>
              <a:gd name="connsiteY3" fmla="*/ 5299239 h 5299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6148" h="5299239">
                <a:moveTo>
                  <a:pt x="0" y="0"/>
                </a:moveTo>
                <a:lnTo>
                  <a:pt x="4406148" y="4406147"/>
                </a:lnTo>
                <a:lnTo>
                  <a:pt x="3513056" y="5299239"/>
                </a:lnTo>
                <a:lnTo>
                  <a:pt x="1" y="5299239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D68D0C72-2B2C-4C85-A091-157853C71784}"/>
              </a:ext>
            </a:extLst>
          </p:cNvPr>
          <p:cNvSpPr/>
          <p:nvPr userDrawn="1"/>
        </p:nvSpPr>
        <p:spPr>
          <a:xfrm rot="8100000" flipH="1">
            <a:off x="9583575" y="1088097"/>
            <a:ext cx="5072180" cy="4843502"/>
          </a:xfrm>
          <a:custGeom>
            <a:avLst/>
            <a:gdLst>
              <a:gd name="connsiteX0" fmla="*/ 5072180 w 5072180"/>
              <a:gd name="connsiteY0" fmla="*/ 4843501 h 4843502"/>
              <a:gd name="connsiteX1" fmla="*/ 228679 w 5072180"/>
              <a:gd name="connsiteY1" fmla="*/ 0 h 4843502"/>
              <a:gd name="connsiteX2" fmla="*/ 1 w 5072180"/>
              <a:gd name="connsiteY2" fmla="*/ 228678 h 4843502"/>
              <a:gd name="connsiteX3" fmla="*/ 0 w 5072180"/>
              <a:gd name="connsiteY3" fmla="*/ 4843502 h 484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72180" h="4843502">
                <a:moveTo>
                  <a:pt x="5072180" y="4843501"/>
                </a:moveTo>
                <a:lnTo>
                  <a:pt x="228679" y="0"/>
                </a:lnTo>
                <a:lnTo>
                  <a:pt x="1" y="228678"/>
                </a:lnTo>
                <a:lnTo>
                  <a:pt x="0" y="4843502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8E25334A-5FE3-4DDA-8D32-4796CCFCAA74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18818DF1-D7FD-4C0F-875D-7A07E8F75C06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8F9BB384-9E14-4CEA-82C1-21837229D3EF}"/>
              </a:ext>
            </a:extLst>
          </p:cNvPr>
          <p:cNvGrpSpPr/>
          <p:nvPr userDrawn="1"/>
        </p:nvGrpSpPr>
        <p:grpSpPr>
          <a:xfrm rot="16200000">
            <a:off x="431651" y="-917359"/>
            <a:ext cx="1532001" cy="1826463"/>
            <a:chOff x="10800164" y="7142066"/>
            <a:chExt cx="2775293" cy="3308724"/>
          </a:xfrm>
        </p:grpSpPr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0862A81A-959D-4EAB-90ED-DB20759BB397}"/>
                </a:ext>
              </a:extLst>
            </p:cNvPr>
            <p:cNvSpPr/>
            <p:nvPr/>
          </p:nvSpPr>
          <p:spPr>
            <a:xfrm rot="2700000">
              <a:off x="10800164" y="7675497"/>
              <a:ext cx="2775293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AAB9E28C-9422-42BD-AECE-29B44B5D63E2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2772239B-C46D-4458-BB4B-DDB12FAB0172}"/>
              </a:ext>
            </a:extLst>
          </p:cNvPr>
          <p:cNvGrpSpPr/>
          <p:nvPr userDrawn="1"/>
        </p:nvGrpSpPr>
        <p:grpSpPr>
          <a:xfrm rot="16200000">
            <a:off x="1992859" y="-497210"/>
            <a:ext cx="818398" cy="986162"/>
            <a:chOff x="10945855" y="7317026"/>
            <a:chExt cx="2483924" cy="2993104"/>
          </a:xfrm>
        </p:grpSpPr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3C8A2A1A-1FB9-4CA1-B74E-B293187E51AA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DF2B18BA-6B43-40FA-A23B-D894D6AB468B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 rtl="0"/>
            <a:r>
              <a:rPr lang="fr-FR" noProof="0"/>
              <a:t>Modifiez les styles du texte du masque</a:t>
            </a:r>
          </a:p>
        </p:txBody>
      </p:sp>
      <p:sp>
        <p:nvSpPr>
          <p:cNvPr id="22" name="Espace réservé du numéro de diapositive 4">
            <a:extLst>
              <a:ext uri="{FF2B5EF4-FFF2-40B4-BE49-F238E27FC236}">
                <a16:creationId xmlns:a16="http://schemas.microsoft.com/office/drawing/2014/main" id="{0F332671-6296-47C8-BF26-B2D962F5D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3" name="Titre 1">
            <a:extLst>
              <a:ext uri="{FF2B5EF4-FFF2-40B4-BE49-F238E27FC236}">
                <a16:creationId xmlns:a16="http://schemas.microsoft.com/office/drawing/2014/main" id="{7772A652-7229-2B42-B87B-298C31D6F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Titre de section 01</a:t>
            </a:r>
          </a:p>
        </p:txBody>
      </p:sp>
    </p:spTree>
    <p:extLst>
      <p:ext uri="{BB962C8B-B14F-4D97-AF65-F5344CB8AC3E}">
        <p14:creationId xmlns:p14="http://schemas.microsoft.com/office/powerpoint/2010/main" val="1675197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E9318B2B-E019-4078-9EF0-C9D6281AE31B}"/>
              </a:ext>
            </a:extLst>
          </p:cNvPr>
          <p:cNvGrpSpPr/>
          <p:nvPr userDrawn="1"/>
        </p:nvGrpSpPr>
        <p:grpSpPr>
          <a:xfrm>
            <a:off x="9776075" y="2057401"/>
            <a:ext cx="4413559" cy="3934444"/>
            <a:chOff x="9222437" y="1088097"/>
            <a:chExt cx="5433318" cy="4843502"/>
          </a:xfrm>
        </p:grpSpPr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D3E625C0-9656-421F-861F-67C8F93362ED}"/>
                </a:ext>
              </a:extLst>
            </p:cNvPr>
            <p:cNvSpPr/>
            <p:nvPr/>
          </p:nvSpPr>
          <p:spPr>
            <a:xfrm rot="2700000">
              <a:off x="9668983" y="1078460"/>
              <a:ext cx="4406148" cy="5299239"/>
            </a:xfrm>
            <a:custGeom>
              <a:avLst/>
              <a:gdLst>
                <a:gd name="connsiteX0" fmla="*/ 0 w 4406148"/>
                <a:gd name="connsiteY0" fmla="*/ 0 h 5299239"/>
                <a:gd name="connsiteX1" fmla="*/ 4406148 w 4406148"/>
                <a:gd name="connsiteY1" fmla="*/ 4406147 h 5299239"/>
                <a:gd name="connsiteX2" fmla="*/ 3513056 w 4406148"/>
                <a:gd name="connsiteY2" fmla="*/ 5299239 h 5299239"/>
                <a:gd name="connsiteX3" fmla="*/ 1 w 4406148"/>
                <a:gd name="connsiteY3" fmla="*/ 5299239 h 529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6148" h="5299239">
                  <a:moveTo>
                    <a:pt x="0" y="0"/>
                  </a:moveTo>
                  <a:lnTo>
                    <a:pt x="4406148" y="4406147"/>
                  </a:lnTo>
                  <a:lnTo>
                    <a:pt x="3513056" y="5299239"/>
                  </a:lnTo>
                  <a:lnTo>
                    <a:pt x="1" y="5299239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noProof="0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49F8E490-C6E3-4D00-866F-CD85DD88996E}"/>
                </a:ext>
              </a:extLst>
            </p:cNvPr>
            <p:cNvSpPr/>
            <p:nvPr/>
          </p:nvSpPr>
          <p:spPr>
            <a:xfrm rot="8100000" flipH="1">
              <a:off x="9583575" y="1088097"/>
              <a:ext cx="5072180" cy="4843502"/>
            </a:xfrm>
            <a:custGeom>
              <a:avLst/>
              <a:gdLst>
                <a:gd name="connsiteX0" fmla="*/ 5072180 w 5072180"/>
                <a:gd name="connsiteY0" fmla="*/ 4843501 h 4843502"/>
                <a:gd name="connsiteX1" fmla="*/ 228679 w 5072180"/>
                <a:gd name="connsiteY1" fmla="*/ 0 h 4843502"/>
                <a:gd name="connsiteX2" fmla="*/ 1 w 5072180"/>
                <a:gd name="connsiteY2" fmla="*/ 228678 h 4843502"/>
                <a:gd name="connsiteX3" fmla="*/ 0 w 5072180"/>
                <a:gd name="connsiteY3" fmla="*/ 4843502 h 4843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72180" h="4843502">
                  <a:moveTo>
                    <a:pt x="5072180" y="4843501"/>
                  </a:moveTo>
                  <a:lnTo>
                    <a:pt x="228679" y="0"/>
                  </a:lnTo>
                  <a:lnTo>
                    <a:pt x="1" y="228678"/>
                  </a:lnTo>
                  <a:lnTo>
                    <a:pt x="0" y="4843502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noProof="0"/>
            </a:p>
          </p:txBody>
        </p:sp>
      </p:grpSp>
      <p:sp>
        <p:nvSpPr>
          <p:cNvPr id="29" name="Forme libre : Forme 28">
            <a:extLst>
              <a:ext uri="{FF2B5EF4-FFF2-40B4-BE49-F238E27FC236}">
                <a16:creationId xmlns:a16="http://schemas.microsoft.com/office/drawing/2014/main" id="{EE8F5B31-1523-46AE-9455-C33DFC1BDDE0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5D17048F-C2E1-4775-BC32-50BD6219F89D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EAB002AA-4848-49C8-A834-036F860C79A3}"/>
              </a:ext>
            </a:extLst>
          </p:cNvPr>
          <p:cNvGrpSpPr/>
          <p:nvPr userDrawn="1"/>
        </p:nvGrpSpPr>
        <p:grpSpPr>
          <a:xfrm rot="16200000" flipH="1">
            <a:off x="9913705" y="6257994"/>
            <a:ext cx="1052473" cy="1209445"/>
            <a:chOff x="10800165" y="7142066"/>
            <a:chExt cx="2775293" cy="3189215"/>
          </a:xfrm>
        </p:grpSpPr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14B187A8-7F8D-469D-A03B-4F835A5746DE}"/>
                </a:ext>
              </a:extLst>
            </p:cNvPr>
            <p:cNvSpPr/>
            <p:nvPr/>
          </p:nvSpPr>
          <p:spPr>
            <a:xfrm rot="2700000">
              <a:off x="10800166" y="7555988"/>
              <a:ext cx="2775292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3" name="Forme libre : Forme 32">
              <a:extLst>
                <a:ext uri="{FF2B5EF4-FFF2-40B4-BE49-F238E27FC236}">
                  <a16:creationId xmlns:a16="http://schemas.microsoft.com/office/drawing/2014/main" id="{03D871D1-A11A-48FB-82A8-8D61AB5CB85C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Titre de section 01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 rtl="0"/>
            <a:r>
              <a:rPr lang="fr-FR" noProof="0"/>
              <a:t>Modifiez les styles du texte du masque</a:t>
            </a:r>
          </a:p>
        </p:txBody>
      </p:sp>
      <p:sp>
        <p:nvSpPr>
          <p:cNvPr id="35" name="Espace réservé du numéro de diapositive 4">
            <a:extLst>
              <a:ext uri="{FF2B5EF4-FFF2-40B4-BE49-F238E27FC236}">
                <a16:creationId xmlns:a16="http://schemas.microsoft.com/office/drawing/2014/main" id="{6F73F836-940E-4B65-A29C-D0869263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511478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ECB4C115-EFF9-405C-98BE-F4077B9730D0}"/>
              </a:ext>
            </a:extLst>
          </p:cNvPr>
          <p:cNvSpPr/>
          <p:nvPr userDrawn="1"/>
        </p:nvSpPr>
        <p:spPr>
          <a:xfrm>
            <a:off x="533399" y="914400"/>
            <a:ext cx="1944914" cy="1944914"/>
          </a:xfrm>
          <a:prstGeom prst="ellipse">
            <a:avLst/>
          </a:prstGeom>
          <a:solidFill>
            <a:schemeClr val="accent1">
              <a:lumMod val="50000"/>
            </a:schemeClr>
          </a:solidFill>
          <a:ln w="76200">
            <a:solidFill>
              <a:schemeClr val="accent1">
                <a:alpha val="5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8" name="Titre 1">
            <a:extLst>
              <a:ext uri="{FF2B5EF4-FFF2-40B4-BE49-F238E27FC236}">
                <a16:creationId xmlns:a16="http://schemas.microsoft.com/office/drawing/2014/main" id="{C9A300DD-BB54-44ED-A7E4-01CD41EC930F}"/>
              </a:ext>
            </a:extLst>
          </p:cNvPr>
          <p:cNvSpPr txBox="1">
            <a:spLocks/>
          </p:cNvSpPr>
          <p:nvPr userDrawn="1"/>
        </p:nvSpPr>
        <p:spPr>
          <a:xfrm>
            <a:off x="956993" y="923305"/>
            <a:ext cx="1005115" cy="285931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GB" sz="3600" b="0" i="0" kern="120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algn="ctr" rtl="0"/>
            <a:r>
              <a:rPr lang="fr-FR" sz="18400" noProof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rPr>
              <a:t>“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3200400"/>
            <a:ext cx="7551057" cy="28593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00000"/>
              </a:lnSpc>
              <a:defRPr lang="en-GB" sz="3200" b="0" i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Guillemet</a:t>
            </a:r>
          </a:p>
        </p:txBody>
      </p:sp>
      <p:sp>
        <p:nvSpPr>
          <p:cNvPr id="19" name="Espace réservé du numéro de diapositive 4">
            <a:extLst>
              <a:ext uri="{FF2B5EF4-FFF2-40B4-BE49-F238E27FC236}">
                <a16:creationId xmlns:a16="http://schemas.microsoft.com/office/drawing/2014/main" id="{A4E6C1FF-5925-42B3-B7F9-0A0031BD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5316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one+Tit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8" name="Forme libre : Forme 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03618670-D1E4-466C-BDB5-FC890AC314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4500" y="1625385"/>
            <a:ext cx="6718300" cy="4093243"/>
          </a:xfrm>
        </p:spPr>
        <p:txBody>
          <a:bodyPr rtlCol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27457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uniquem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7370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0103A49C-32FF-49E6-86F3-FC2E19517BD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3365" y="1825625"/>
            <a:ext cx="11215235" cy="4351338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636708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7FA80A70-18DE-4DB9-9982-BA75BE54CF9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44500" y="1681163"/>
            <a:ext cx="5157787" cy="823912"/>
          </a:xfrm>
        </p:spPr>
        <p:txBody>
          <a:bodyPr rtlCol="0"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6" name="Espace réservé du texte 4">
            <a:extLst>
              <a:ext uri="{FF2B5EF4-FFF2-40B4-BE49-F238E27FC236}">
                <a16:creationId xmlns:a16="http://schemas.microsoft.com/office/drawing/2014/main" id="{2801C0EF-C078-44B0-AD01-4850E9A65EE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500812" y="1681163"/>
            <a:ext cx="5157788" cy="823912"/>
          </a:xfrm>
        </p:spPr>
        <p:txBody>
          <a:bodyPr rtlCol="0"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7" name="Espace réservé du contenu 3">
            <a:extLst>
              <a:ext uri="{FF2B5EF4-FFF2-40B4-BE49-F238E27FC236}">
                <a16:creationId xmlns:a16="http://schemas.microsoft.com/office/drawing/2014/main" id="{7C9DED91-45F6-4308-A085-1EFACA6468C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44500" y="2505075"/>
            <a:ext cx="5157787" cy="3684588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28" name="Espace réservé du contenu 5">
            <a:extLst>
              <a:ext uri="{FF2B5EF4-FFF2-40B4-BE49-F238E27FC236}">
                <a16:creationId xmlns:a16="http://schemas.microsoft.com/office/drawing/2014/main" id="{0574B5E7-B666-439B-9278-67BE1EA6EBC5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475412" y="2505075"/>
            <a:ext cx="5183188" cy="3684588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219167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FE796BFF-6E5F-4DE7-B193-F501FC094D6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43365" y="1517715"/>
            <a:ext cx="5184437" cy="4659248"/>
          </a:xfrm>
        </p:spPr>
        <p:txBody>
          <a:bodyPr rtlCol="0"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800100" indent="-34290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57300" indent="-34290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21" name="Espace réservé du contenu 3">
            <a:extLst>
              <a:ext uri="{FF2B5EF4-FFF2-40B4-BE49-F238E27FC236}">
                <a16:creationId xmlns:a16="http://schemas.microsoft.com/office/drawing/2014/main" id="{78622754-CA4D-4C27-A37F-B26E7B4C9CA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474163" y="1517715"/>
            <a:ext cx="5184437" cy="4659248"/>
          </a:xfrm>
        </p:spPr>
        <p:txBody>
          <a:bodyPr rtlCol="0"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999597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tégori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0" name="Espace réservé d’image 8">
            <a:extLst>
              <a:ext uri="{FF2B5EF4-FFF2-40B4-BE49-F238E27FC236}">
                <a16:creationId xmlns:a16="http://schemas.microsoft.com/office/drawing/2014/main" id="{6D00E6B4-1CBE-404E-B943-5F1832320C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78212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1" name="Espace réservé d’image 8">
            <a:extLst>
              <a:ext uri="{FF2B5EF4-FFF2-40B4-BE49-F238E27FC236}">
                <a16:creationId xmlns:a16="http://schemas.microsoft.com/office/drawing/2014/main" id="{7CD59BFD-62BE-4E33-92A5-B84A2A9A8D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22230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2" name="Espace réservé d’image 8">
            <a:extLst>
              <a:ext uri="{FF2B5EF4-FFF2-40B4-BE49-F238E27FC236}">
                <a16:creationId xmlns:a16="http://schemas.microsoft.com/office/drawing/2014/main" id="{60DC5978-55B8-421D-91B4-29F8210A7B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66248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3" name="Espace réservé d’image 8">
            <a:extLst>
              <a:ext uri="{FF2B5EF4-FFF2-40B4-BE49-F238E27FC236}">
                <a16:creationId xmlns:a16="http://schemas.microsoft.com/office/drawing/2014/main" id="{BE3FB8C3-2C7E-4C59-8BD5-53FA2772DB5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10266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4" name="Espace réservé d’image 8">
            <a:extLst>
              <a:ext uri="{FF2B5EF4-FFF2-40B4-BE49-F238E27FC236}">
                <a16:creationId xmlns:a16="http://schemas.microsoft.com/office/drawing/2014/main" id="{FD8FA9DA-C36B-4889-B88F-28B5829E53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54283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6" name="Espace réservé du texte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19894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7" name="Espace réservé du texte 22">
            <a:extLst>
              <a:ext uri="{FF2B5EF4-FFF2-40B4-BE49-F238E27FC236}">
                <a16:creationId xmlns:a16="http://schemas.microsoft.com/office/drawing/2014/main" id="{05F72315-51A9-431C-B80A-45E4FB1D6BD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63912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8" name="Espace réservé du texte 22">
            <a:extLst>
              <a:ext uri="{FF2B5EF4-FFF2-40B4-BE49-F238E27FC236}">
                <a16:creationId xmlns:a16="http://schemas.microsoft.com/office/drawing/2014/main" id="{883D1F0C-34F1-46E1-B178-E4AB82B1463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07930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9" name="Espace réservé du texte 22">
            <a:extLst>
              <a:ext uri="{FF2B5EF4-FFF2-40B4-BE49-F238E27FC236}">
                <a16:creationId xmlns:a16="http://schemas.microsoft.com/office/drawing/2014/main" id="{7202A849-DF14-40E7-B38D-1185F72603E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451948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0" name="Espace réservé du texte 22">
            <a:extLst>
              <a:ext uri="{FF2B5EF4-FFF2-40B4-BE49-F238E27FC236}">
                <a16:creationId xmlns:a16="http://schemas.microsoft.com/office/drawing/2014/main" id="{CCFC1ADF-AC11-4CCD-AC2D-478B6FFEA5E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95965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2B4CB326-DA0E-488E-B236-7017E8438FBB}"/>
              </a:ext>
            </a:extLst>
          </p:cNvPr>
          <p:cNvCxnSpPr/>
          <p:nvPr userDrawn="1"/>
        </p:nvCxnSpPr>
        <p:spPr>
          <a:xfrm>
            <a:off x="1242354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9366B533-7212-4A36-9CE2-D6302E721F8F}"/>
              </a:ext>
            </a:extLst>
          </p:cNvPr>
          <p:cNvCxnSpPr/>
          <p:nvPr userDrawn="1"/>
        </p:nvCxnSpPr>
        <p:spPr>
          <a:xfrm>
            <a:off x="3486372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AD7474CD-E230-4E14-8274-5E20F673F401}"/>
              </a:ext>
            </a:extLst>
          </p:cNvPr>
          <p:cNvCxnSpPr/>
          <p:nvPr userDrawn="1"/>
        </p:nvCxnSpPr>
        <p:spPr>
          <a:xfrm>
            <a:off x="5730390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6BF71FCE-6F39-4D2F-82BE-7D9F1D2ED59F}"/>
              </a:ext>
            </a:extLst>
          </p:cNvPr>
          <p:cNvCxnSpPr/>
          <p:nvPr userDrawn="1"/>
        </p:nvCxnSpPr>
        <p:spPr>
          <a:xfrm>
            <a:off x="7974408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AE97AC7A-17D9-4F42-9DD0-94FE4FC6BF19}"/>
              </a:ext>
            </a:extLst>
          </p:cNvPr>
          <p:cNvCxnSpPr/>
          <p:nvPr userDrawn="1"/>
        </p:nvCxnSpPr>
        <p:spPr>
          <a:xfrm>
            <a:off x="10218425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76266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Section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6" name="Espace réservé du texte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2094" y="4240093"/>
            <a:ext cx="3293306" cy="1463040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36" name="Espace réservé du texte 22">
            <a:extLst>
              <a:ext uri="{FF2B5EF4-FFF2-40B4-BE49-F238E27FC236}">
                <a16:creationId xmlns:a16="http://schemas.microsoft.com/office/drawing/2014/main" id="{642D3CE0-C3B4-4F3F-A650-AB452B3AD4B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44169" y="4240093"/>
            <a:ext cx="3293306" cy="1463040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7" name="Espace réservé du texte 22">
            <a:extLst>
              <a:ext uri="{FF2B5EF4-FFF2-40B4-BE49-F238E27FC236}">
                <a16:creationId xmlns:a16="http://schemas.microsoft.com/office/drawing/2014/main" id="{DBED2BB0-CDAD-40EE-8B35-C66DF45EE29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46244" y="4240093"/>
            <a:ext cx="3293306" cy="1463040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5447457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text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6" name="Espace réservé du texte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2094" y="4240093"/>
            <a:ext cx="9402006" cy="1463040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</p:spTree>
    <p:extLst>
      <p:ext uri="{BB962C8B-B14F-4D97-AF65-F5344CB8AC3E}">
        <p14:creationId xmlns:p14="http://schemas.microsoft.com/office/powerpoint/2010/main" val="24868267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vec légen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0" name="Espace réservé d’image 2">
            <a:extLst>
              <a:ext uri="{FF2B5EF4-FFF2-40B4-BE49-F238E27FC236}">
                <a16:creationId xmlns:a16="http://schemas.microsoft.com/office/drawing/2014/main" id="{30B3A574-7940-4E35-857E-5CA35A591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110087" y="1444649"/>
            <a:ext cx="7548513" cy="4579079"/>
          </a:xfrm>
        </p:spPr>
        <p:txBody>
          <a:bodyPr rtlCol="0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1" name="Espace réservé du texte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443366" y="1444649"/>
            <a:ext cx="3365063" cy="4579079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5406501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avec légen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1" name="Espace réservé du texte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443366" y="1444649"/>
            <a:ext cx="3365063" cy="4579079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2" name="Espace réservé du contenu 2">
            <a:extLst>
              <a:ext uri="{FF2B5EF4-FFF2-40B4-BE49-F238E27FC236}">
                <a16:creationId xmlns:a16="http://schemas.microsoft.com/office/drawing/2014/main" id="{A015C605-1D30-48BC-A0D6-3B11AF56CC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964290" y="1444649"/>
            <a:ext cx="7694310" cy="4579079"/>
          </a:xfrm>
        </p:spPr>
        <p:txBody>
          <a:bodyPr rtlCol="0"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212989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4494CD2-CCDD-0248-96F8-741002C44255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9" name="Forme libre : Forme 9">
            <a:extLst>
              <a:ext uri="{FF2B5EF4-FFF2-40B4-BE49-F238E27FC236}">
                <a16:creationId xmlns:a16="http://schemas.microsoft.com/office/drawing/2014/main" id="{07077B00-C1EE-7241-B441-7814F92A7EDF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0" name="Forme libre : Forme 17">
            <a:extLst>
              <a:ext uri="{FF2B5EF4-FFF2-40B4-BE49-F238E27FC236}">
                <a16:creationId xmlns:a16="http://schemas.microsoft.com/office/drawing/2014/main" id="{3A1AEBC4-637E-F64C-9192-69AC4BB26D0C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1" name="Forme libre : Forme 11">
            <a:extLst>
              <a:ext uri="{FF2B5EF4-FFF2-40B4-BE49-F238E27FC236}">
                <a16:creationId xmlns:a16="http://schemas.microsoft.com/office/drawing/2014/main" id="{669A7039-C54C-8E46-9A8B-DDB2547D989C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2" name="Forme libre : Forme 7">
            <a:extLst>
              <a:ext uri="{FF2B5EF4-FFF2-40B4-BE49-F238E27FC236}">
                <a16:creationId xmlns:a16="http://schemas.microsoft.com/office/drawing/2014/main" id="{4F173B32-87BB-9A40-8C91-4C1EED2B7ABF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4AC87F4E-12B5-1B42-AFD2-4DB39B7645C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25" name="Forme libre : Forme 15">
              <a:extLst>
                <a:ext uri="{FF2B5EF4-FFF2-40B4-BE49-F238E27FC236}">
                  <a16:creationId xmlns:a16="http://schemas.microsoft.com/office/drawing/2014/main" id="{03DD8765-59DF-A045-ADB5-E39FAEE153A0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26" name="Forme libre : Forme 16">
              <a:extLst>
                <a:ext uri="{FF2B5EF4-FFF2-40B4-BE49-F238E27FC236}">
                  <a16:creationId xmlns:a16="http://schemas.microsoft.com/office/drawing/2014/main" id="{B34B796C-A407-7B4D-B4F0-E58A44FE8DB4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30" name="Forme libre : Forme 23">
            <a:extLst>
              <a:ext uri="{FF2B5EF4-FFF2-40B4-BE49-F238E27FC236}">
                <a16:creationId xmlns:a16="http://schemas.microsoft.com/office/drawing/2014/main" id="{CBE3FDC9-67CB-FA42-B127-A36BFF4678BB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31" name="Espace réservé du numéro de diapositive 4">
            <a:extLst>
              <a:ext uri="{FF2B5EF4-FFF2-40B4-BE49-F238E27FC236}">
                <a16:creationId xmlns:a16="http://schemas.microsoft.com/office/drawing/2014/main" id="{1E902BFF-CA8F-D745-A819-A7BB38B3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723047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 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A7FF9D7-8545-4547-AC77-A0421EEB9B99}"/>
              </a:ext>
            </a:extLst>
          </p:cNvPr>
          <p:cNvGrpSpPr/>
          <p:nvPr userDrawn="1"/>
        </p:nvGrpSpPr>
        <p:grpSpPr>
          <a:xfrm>
            <a:off x="0" y="0"/>
            <a:ext cx="6881966" cy="6858876"/>
            <a:chOff x="-5321" y="1096"/>
            <a:chExt cx="5924073" cy="5904197"/>
          </a:xfrm>
        </p:grpSpPr>
        <p:sp>
          <p:nvSpPr>
            <p:cNvPr id="17" name="Triangle rectangle 16">
              <a:extLst>
                <a:ext uri="{FF2B5EF4-FFF2-40B4-BE49-F238E27FC236}">
                  <a16:creationId xmlns:a16="http://schemas.microsoft.com/office/drawing/2014/main" id="{8DCD5806-2A2F-4ABF-8057-245681C498E6}"/>
                </a:ext>
              </a:extLst>
            </p:cNvPr>
            <p:cNvSpPr/>
            <p:nvPr userDrawn="1"/>
          </p:nvSpPr>
          <p:spPr>
            <a:xfrm rot="16200000" flipH="1" flipV="1">
              <a:off x="4618" y="-8842"/>
              <a:ext cx="5904196" cy="5924073"/>
            </a:xfrm>
            <a:prstGeom prst="rtTriangl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8" name="Triangle droit 17">
              <a:extLst>
                <a:ext uri="{FF2B5EF4-FFF2-40B4-BE49-F238E27FC236}">
                  <a16:creationId xmlns:a16="http://schemas.microsoft.com/office/drawing/2014/main" id="{3A93038F-E9E4-4FFD-B3DF-28DB7C2C1490}"/>
                </a:ext>
              </a:extLst>
            </p:cNvPr>
            <p:cNvSpPr/>
            <p:nvPr userDrawn="1"/>
          </p:nvSpPr>
          <p:spPr>
            <a:xfrm rot="16200000" flipH="1" flipV="1">
              <a:off x="3941" y="-8164"/>
              <a:ext cx="5501471" cy="5519993"/>
            </a:xfrm>
            <a:prstGeom prst="rtTriangle">
              <a:avLst/>
            </a:prstGeom>
            <a:pattFill prst="dkHorz">
              <a:fgClr>
                <a:schemeClr val="accent1"/>
              </a:fgClr>
              <a:bgClr>
                <a:schemeClr val="accent2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9" name="Triangle droit 18">
              <a:extLst>
                <a:ext uri="{FF2B5EF4-FFF2-40B4-BE49-F238E27FC236}">
                  <a16:creationId xmlns:a16="http://schemas.microsoft.com/office/drawing/2014/main" id="{5DEA1E02-BBD0-4AE3-AF22-433B90272178}"/>
                </a:ext>
              </a:extLst>
            </p:cNvPr>
            <p:cNvSpPr/>
            <p:nvPr userDrawn="1"/>
          </p:nvSpPr>
          <p:spPr>
            <a:xfrm rot="16200000" flipH="1" flipV="1">
              <a:off x="3131" y="-7355"/>
              <a:ext cx="5019818" cy="5036720"/>
            </a:xfrm>
            <a:prstGeom prst="rtTriangl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217242" y="2807208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 rtl="0"/>
            <a:r>
              <a:rPr lang="fr-FR" noProof="0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22363861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 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360242" y="3429000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 rtl="0"/>
            <a:r>
              <a:rPr lang="fr-FR" noProof="0"/>
              <a:t>Merci</a:t>
            </a: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C024DCDB-C6BF-455E-AAB8-EAF9DAB302A1}"/>
              </a:ext>
            </a:extLst>
          </p:cNvPr>
          <p:cNvSpPr/>
          <p:nvPr userDrawn="1"/>
        </p:nvSpPr>
        <p:spPr>
          <a:xfrm rot="13500000">
            <a:off x="-729899" y="-1215856"/>
            <a:ext cx="6043521" cy="8427077"/>
          </a:xfrm>
          <a:custGeom>
            <a:avLst/>
            <a:gdLst>
              <a:gd name="connsiteX0" fmla="*/ 6043521 w 6043521"/>
              <a:gd name="connsiteY0" fmla="*/ 4267535 h 8427077"/>
              <a:gd name="connsiteX1" fmla="*/ 1883979 w 6043521"/>
              <a:gd name="connsiteY1" fmla="*/ 8427077 h 8427077"/>
              <a:gd name="connsiteX2" fmla="*/ 0 w 6043521"/>
              <a:gd name="connsiteY2" fmla="*/ 8427077 h 8427077"/>
              <a:gd name="connsiteX3" fmla="*/ 0 w 6043521"/>
              <a:gd name="connsiteY3" fmla="*/ 1775986 h 8427077"/>
              <a:gd name="connsiteX4" fmla="*/ 1775985 w 6043521"/>
              <a:gd name="connsiteY4" fmla="*/ 0 h 8427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8427077">
                <a:moveTo>
                  <a:pt x="6043521" y="4267535"/>
                </a:moveTo>
                <a:lnTo>
                  <a:pt x="1883979" y="8427077"/>
                </a:lnTo>
                <a:lnTo>
                  <a:pt x="0" y="8427077"/>
                </a:lnTo>
                <a:lnTo>
                  <a:pt x="0" y="1775986"/>
                </a:lnTo>
                <a:lnTo>
                  <a:pt x="1775985" y="0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26AFB47A-5D51-4F9C-B01B-977CE5E3C093}"/>
              </a:ext>
            </a:extLst>
          </p:cNvPr>
          <p:cNvSpPr/>
          <p:nvPr userDrawn="1"/>
        </p:nvSpPr>
        <p:spPr>
          <a:xfrm rot="13500000">
            <a:off x="-1145231" y="-2123853"/>
            <a:ext cx="6043521" cy="9008880"/>
          </a:xfrm>
          <a:custGeom>
            <a:avLst/>
            <a:gdLst>
              <a:gd name="connsiteX0" fmla="*/ 6043521 w 6043521"/>
              <a:gd name="connsiteY0" fmla="*/ 4849338 h 9008880"/>
              <a:gd name="connsiteX1" fmla="*/ 1883979 w 6043521"/>
              <a:gd name="connsiteY1" fmla="*/ 9008880 h 9008880"/>
              <a:gd name="connsiteX2" fmla="*/ 0 w 6043521"/>
              <a:gd name="connsiteY2" fmla="*/ 9008880 h 9008880"/>
              <a:gd name="connsiteX3" fmla="*/ 0 w 6043521"/>
              <a:gd name="connsiteY3" fmla="*/ 1194182 h 9008880"/>
              <a:gd name="connsiteX4" fmla="*/ 1194182 w 6043521"/>
              <a:gd name="connsiteY4" fmla="*/ 0 h 9008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9008880">
                <a:moveTo>
                  <a:pt x="6043521" y="4849338"/>
                </a:moveTo>
                <a:lnTo>
                  <a:pt x="1883979" y="9008880"/>
                </a:lnTo>
                <a:lnTo>
                  <a:pt x="0" y="9008880"/>
                </a:lnTo>
                <a:lnTo>
                  <a:pt x="0" y="1194182"/>
                </a:lnTo>
                <a:lnTo>
                  <a:pt x="1194182" y="0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6997A4FF-7390-4173-8ACD-6CF7145AACEC}"/>
              </a:ext>
            </a:extLst>
          </p:cNvPr>
          <p:cNvSpPr/>
          <p:nvPr userDrawn="1"/>
        </p:nvSpPr>
        <p:spPr>
          <a:xfrm rot="18900000" flipH="1">
            <a:off x="-2681153" y="-465959"/>
            <a:ext cx="8639119" cy="5739762"/>
          </a:xfrm>
          <a:custGeom>
            <a:avLst/>
            <a:gdLst>
              <a:gd name="connsiteX0" fmla="*/ 3789781 w 8639119"/>
              <a:gd name="connsiteY0" fmla="*/ 0 h 5739762"/>
              <a:gd name="connsiteX1" fmla="*/ 0 w 8639119"/>
              <a:gd name="connsiteY1" fmla="*/ 3789782 h 5739762"/>
              <a:gd name="connsiteX2" fmla="*/ 0 w 8639119"/>
              <a:gd name="connsiteY2" fmla="*/ 5739761 h 5739762"/>
              <a:gd name="connsiteX3" fmla="*/ 7748695 w 8639119"/>
              <a:gd name="connsiteY3" fmla="*/ 5739762 h 5739762"/>
              <a:gd name="connsiteX4" fmla="*/ 8639119 w 8639119"/>
              <a:gd name="connsiteY4" fmla="*/ 4849338 h 5739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9119" h="5739762">
                <a:moveTo>
                  <a:pt x="3789781" y="0"/>
                </a:moveTo>
                <a:lnTo>
                  <a:pt x="0" y="3789782"/>
                </a:lnTo>
                <a:lnTo>
                  <a:pt x="0" y="5739761"/>
                </a:lnTo>
                <a:lnTo>
                  <a:pt x="7748695" y="5739762"/>
                </a:lnTo>
                <a:lnTo>
                  <a:pt x="8639119" y="4849338"/>
                </a:lnTo>
                <a:close/>
              </a:path>
            </a:pathLst>
          </a:custGeom>
          <a:solidFill>
            <a:schemeClr val="accent1">
              <a:lumMod val="50000"/>
              <a:alpha val="51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1851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61B0E15-6FC5-434E-8780-B186D9D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9C7B128-34F3-405C-B601-8BAFDB43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820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5A7754-E8C7-438B-922D-9027C6CF5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2500" y="6356350"/>
            <a:ext cx="66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t>‹N°›</a:t>
            </a:fld>
            <a:endParaRPr lang="fr-FR" noProof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DDDB7D-9189-9548-A2B9-81DC62C3C1A3}"/>
              </a:ext>
            </a:extLst>
          </p:cNvPr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7" name="Forme libre : Forme 9">
            <a:extLst>
              <a:ext uri="{FF2B5EF4-FFF2-40B4-BE49-F238E27FC236}">
                <a16:creationId xmlns:a16="http://schemas.microsoft.com/office/drawing/2014/main" id="{096D8877-6B4A-4540-8927-767DD7401718}"/>
              </a:ext>
            </a:extLst>
          </p:cNvPr>
          <p:cNvSpPr/>
          <p:nvPr userDrawn="1"/>
        </p:nvSpPr>
        <p:spPr>
          <a:xfrm>
            <a:off x="0" y="1"/>
            <a:ext cx="12192001" cy="6857999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8" name="Forme libre : Forme 17">
            <a:extLst>
              <a:ext uri="{FF2B5EF4-FFF2-40B4-BE49-F238E27FC236}">
                <a16:creationId xmlns:a16="http://schemas.microsoft.com/office/drawing/2014/main" id="{5AF2E123-FE0F-8541-8E36-5030C450AA7E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9" name="Forme libre : Forme 11">
            <a:extLst>
              <a:ext uri="{FF2B5EF4-FFF2-40B4-BE49-F238E27FC236}">
                <a16:creationId xmlns:a16="http://schemas.microsoft.com/office/drawing/2014/main" id="{E5519D99-3B68-924A-9CD0-14B911711CA8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7">
            <a:extLst>
              <a:ext uri="{FF2B5EF4-FFF2-40B4-BE49-F238E27FC236}">
                <a16:creationId xmlns:a16="http://schemas.microsoft.com/office/drawing/2014/main" id="{A09E21A9-FBEF-144C-A152-FE484F3C55C1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70C7F2CB-A8CE-1545-A08D-93592C4BAEEA}"/>
              </a:ext>
            </a:extLst>
          </p:cNvPr>
          <p:cNvSpPr txBox="1">
            <a:spLocks/>
          </p:cNvSpPr>
          <p:nvPr userDrawn="1"/>
        </p:nvSpPr>
        <p:spPr>
          <a:xfrm>
            <a:off x="444500" y="542925"/>
            <a:ext cx="11214100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200" b="1" kern="1200" spc="-70" baseline="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fr-FR" noProof="0">
                <a:latin typeface="+mj-lt"/>
              </a:rPr>
              <a:t>Modifiez le style du titre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7068FCE4-1B47-3C4B-B091-013120A97D0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3" name="Forme libre : Forme 15">
              <a:extLst>
                <a:ext uri="{FF2B5EF4-FFF2-40B4-BE49-F238E27FC236}">
                  <a16:creationId xmlns:a16="http://schemas.microsoft.com/office/drawing/2014/main" id="{FEC3FDE7-F27E-5E4E-8752-287CAB7792D4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4" name="Forme libre : Forme 16">
              <a:extLst>
                <a:ext uri="{FF2B5EF4-FFF2-40B4-BE49-F238E27FC236}">
                  <a16:creationId xmlns:a16="http://schemas.microsoft.com/office/drawing/2014/main" id="{81C902DB-0D21-5044-82B6-9E7A70A1BF62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BE1E08A0-195D-694F-947B-986A76FBB93E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6" name="Rectangle : Coin rogné 18">
              <a:extLst>
                <a:ext uri="{FF2B5EF4-FFF2-40B4-BE49-F238E27FC236}">
                  <a16:creationId xmlns:a16="http://schemas.microsoft.com/office/drawing/2014/main" id="{ED5DFFCD-1EE3-E64E-B51F-BD7D72413E0B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chemeClr val="accent5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17" name="Rectangle : Coin rogné 2">
              <a:extLst>
                <a:ext uri="{FF2B5EF4-FFF2-40B4-BE49-F238E27FC236}">
                  <a16:creationId xmlns:a16="http://schemas.microsoft.com/office/drawing/2014/main" id="{C12DB3CA-8E64-AA43-BFBE-A2CA9A816DBE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18" name="Forme libre : Forme 23">
            <a:extLst>
              <a:ext uri="{FF2B5EF4-FFF2-40B4-BE49-F238E27FC236}">
                <a16:creationId xmlns:a16="http://schemas.microsoft.com/office/drawing/2014/main" id="{A587DEFD-D470-4142-8E0D-A71DDB147C92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9" name="Espace réservé du numéro de diapositive 4">
            <a:extLst>
              <a:ext uri="{FF2B5EF4-FFF2-40B4-BE49-F238E27FC236}">
                <a16:creationId xmlns:a16="http://schemas.microsoft.com/office/drawing/2014/main" id="{7D9BF857-7910-734D-A217-5E3344220AA2}"/>
              </a:ext>
            </a:extLst>
          </p:cNvPr>
          <p:cNvSpPr txBox="1">
            <a:spLocks/>
          </p:cNvSpPr>
          <p:nvPr userDrawn="1"/>
        </p:nvSpPr>
        <p:spPr>
          <a:xfrm>
            <a:off x="11252200" y="6315075"/>
            <a:ext cx="406400" cy="365125"/>
          </a:xfrm>
          <a:prstGeom prst="rect">
            <a:avLst/>
          </a:prstGeom>
        </p:spPr>
        <p:txBody>
          <a:bodyPr rtlCol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Trade Gothic LT Pro" panose="020B0503040303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66609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0" r:id="rId3"/>
    <p:sldLayoutId id="2147483666" r:id="rId4"/>
    <p:sldLayoutId id="2147483654" r:id="rId5"/>
    <p:sldLayoutId id="2147483661" r:id="rId6"/>
    <p:sldLayoutId id="2147483674" r:id="rId7"/>
    <p:sldLayoutId id="2147483665" r:id="rId8"/>
    <p:sldLayoutId id="2147483673" r:id="rId9"/>
    <p:sldLayoutId id="2147483662" r:id="rId10"/>
    <p:sldLayoutId id="2147483663" r:id="rId11"/>
    <p:sldLayoutId id="2147483664" r:id="rId12"/>
    <p:sldLayoutId id="2147483675" r:id="rId13"/>
    <p:sldLayoutId id="2147483676" r:id="rId14"/>
    <p:sldLayoutId id="2147483672" r:id="rId15"/>
    <p:sldLayoutId id="2147483667" r:id="rId16"/>
    <p:sldLayoutId id="2147483668" r:id="rId1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36" userDrawn="1">
          <p15:clr>
            <a:srgbClr val="F26B43"/>
          </p15:clr>
        </p15:guide>
        <p15:guide id="4" orient="horz" pos="336" userDrawn="1">
          <p15:clr>
            <a:srgbClr val="F26B43"/>
          </p15:clr>
        </p15:guide>
        <p15:guide id="5" pos="7344" userDrawn="1">
          <p15:clr>
            <a:srgbClr val="F26B43"/>
          </p15:clr>
        </p15:guide>
        <p15:guide id="6" orient="horz" pos="39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61488" y="2974185"/>
            <a:ext cx="7077456" cy="1243584"/>
          </a:xfrm>
        </p:spPr>
        <p:txBody>
          <a:bodyPr rtlCol="0"/>
          <a:lstStyle/>
          <a:p>
            <a:pPr algn="ctr" rtl="0"/>
            <a:r>
              <a:rPr lang="fr-FR" dirty="0">
                <a:latin typeface="Aptos" panose="020B0004020202020204" pitchFamily="34" charset="0"/>
              </a:rPr>
              <a:t>Présentation de Projet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537F64-4C96-4AA8-BB21-E8053A3186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25384" y="4217769"/>
            <a:ext cx="7077456" cy="868680"/>
          </a:xfrm>
        </p:spPr>
        <p:txBody>
          <a:bodyPr rtlCol="0"/>
          <a:lstStyle/>
          <a:p>
            <a:pPr marL="0" indent="0" rtl="0">
              <a:buNone/>
            </a:pPr>
            <a:r>
              <a:rPr lang="fr-FR" dirty="0"/>
              <a:t>Association Viseta</a:t>
            </a:r>
          </a:p>
        </p:txBody>
      </p:sp>
      <p:pic>
        <p:nvPicPr>
          <p:cNvPr id="4" name="Image3">
            <a:extLst>
              <a:ext uri="{FF2B5EF4-FFF2-40B4-BE49-F238E27FC236}">
                <a16:creationId xmlns:a16="http://schemas.microsoft.com/office/drawing/2014/main" id="{E6288DBD-94B1-9906-0CE7-28BF2D124BC4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5" name="Image 4" descr="Lycée Antoine Bourdelle | LinkedIn">
            <a:extLst>
              <a:ext uri="{FF2B5EF4-FFF2-40B4-BE49-F238E27FC236}">
                <a16:creationId xmlns:a16="http://schemas.microsoft.com/office/drawing/2014/main" id="{27766B2B-0F02-16BE-3B54-3D30DCC2C8D7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047750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7CE62C54-799F-730D-3259-F3EECD0D7CC0}"/>
              </a:ext>
            </a:extLst>
          </p:cNvPr>
          <p:cNvSpPr txBox="1"/>
          <p:nvPr/>
        </p:nvSpPr>
        <p:spPr>
          <a:xfrm>
            <a:off x="0" y="6390913"/>
            <a:ext cx="2217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Descamps Anaël</a:t>
            </a:r>
          </a:p>
        </p:txBody>
      </p:sp>
    </p:spTree>
    <p:extLst>
      <p:ext uri="{BB962C8B-B14F-4D97-AF65-F5344CB8AC3E}">
        <p14:creationId xmlns:p14="http://schemas.microsoft.com/office/powerpoint/2010/main" val="3946934594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3BD8413-C238-49D7-A4E1-E8FEF1811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/>
              <a:t>Sommaire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B24BF10-2B55-43AB-9F77-F1A141038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/>
              <a:t>2</a:t>
            </a:fld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A95F4DE-39B7-4CE2-BC1E-8B8AE662A8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942376"/>
            <a:ext cx="11214099" cy="2973247"/>
          </a:xfrm>
        </p:spPr>
        <p:txBody>
          <a:bodyPr rtlCol="0"/>
          <a:lstStyle/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fr-FR" sz="2000" dirty="0"/>
              <a:t>Partie personnelle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fr-FR" sz="2000" dirty="0"/>
              <a:t>Collaboration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Diagrammes</a:t>
            </a:r>
          </a:p>
          <a:p>
            <a:pPr marL="342900" indent="-342900">
              <a:buAutoNum type="arabicParenR"/>
            </a:pPr>
            <a:r>
              <a:rPr lang="fr-FR" sz="2000" dirty="0"/>
              <a:t>Mesure et calcul de la consommation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Site et codes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Schéma et routage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Assemblage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Problèmes rencontrés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Conclusion</a:t>
            </a:r>
          </a:p>
        </p:txBody>
      </p:sp>
      <p:pic>
        <p:nvPicPr>
          <p:cNvPr id="3" name="Image3">
            <a:extLst>
              <a:ext uri="{FF2B5EF4-FFF2-40B4-BE49-F238E27FC236}">
                <a16:creationId xmlns:a16="http://schemas.microsoft.com/office/drawing/2014/main" id="{0E2C8BFF-5EF7-A4C9-FE63-64AD2DEB9075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2902794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009DB8-04E4-D584-1D92-4937CE630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1) Partie personnelle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449E35A-3696-3D4C-4E40-219FFE3A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3</a:t>
            </a:fld>
            <a:endParaRPr lang="fr-FR" noProof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D5A64EC-877A-28A3-C013-B6FC61E22F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499" y="1625385"/>
            <a:ext cx="7562463" cy="4093243"/>
          </a:xfrm>
        </p:spPr>
        <p:txBody>
          <a:bodyPr/>
          <a:lstStyle/>
          <a:p>
            <a:r>
              <a:rPr lang="fr-FR" dirty="0"/>
              <a:t>Bilan de consommation : tableau comparatif consommation théorique vs mesurée (modes actif, repos, veille profonde)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Mise en place du module MPPT et du panneau photovoltaïque et validation de l’autonomie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Saisie de schéma et routage de la partie concernée du projet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Programme de test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Réalisation de l’IHM via une page Web fournie par le contrôleur principal (état du système ECVD et choix de la consigne du niveau d’eau)</a:t>
            </a:r>
          </a:p>
          <a:p>
            <a:pPr marL="0" indent="0">
              <a:buNone/>
            </a:pPr>
            <a:endParaRPr lang="fr-FR" dirty="0"/>
          </a:p>
          <a:p>
            <a:r>
              <a:rPr lang="fr-FR" dirty="0"/>
              <a:t>Intégration des différentes fonctions dans le programme final</a:t>
            </a:r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6" name="Image3">
            <a:extLst>
              <a:ext uri="{FF2B5EF4-FFF2-40B4-BE49-F238E27FC236}">
                <a16:creationId xmlns:a16="http://schemas.microsoft.com/office/drawing/2014/main" id="{DF3F3000-120A-0289-1520-3DD2AA2CD15F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3236831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F1686A-EA10-2021-AEDE-EA9E04BED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2) Collaboration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6958540-228A-20FE-73C8-935BE0B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4</a:t>
            </a:fld>
            <a:endParaRPr lang="fr-FR" noProof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F85CBE9-E636-FEF5-EEE4-CC0B22DA2F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739" r="15711"/>
          <a:stretch>
            <a:fillRect/>
          </a:stretch>
        </p:blipFill>
        <p:spPr>
          <a:xfrm>
            <a:off x="-1" y="2343163"/>
            <a:ext cx="6591631" cy="451483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3BB021A-A6D3-A9E6-BC24-B34721791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361" y="46292"/>
            <a:ext cx="8347613" cy="405125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250A3E-1203-B3F6-D87D-43859DD711EE}"/>
              </a:ext>
            </a:extLst>
          </p:cNvPr>
          <p:cNvSpPr txBox="1"/>
          <p:nvPr/>
        </p:nvSpPr>
        <p:spPr>
          <a:xfrm>
            <a:off x="386194" y="1450390"/>
            <a:ext cx="3910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Utilisation d’un GitHub pour le partage et l’avancement du projet</a:t>
            </a:r>
          </a:p>
        </p:txBody>
      </p:sp>
    </p:spTree>
    <p:extLst>
      <p:ext uri="{BB962C8B-B14F-4D97-AF65-F5344CB8AC3E}">
        <p14:creationId xmlns:p14="http://schemas.microsoft.com/office/powerpoint/2010/main" val="745725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D179B88-D43C-4A31-9A52-3498E9430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16005"/>
            <a:ext cx="11214100" cy="535531"/>
          </a:xfrm>
        </p:spPr>
        <p:txBody>
          <a:bodyPr rtlCol="0"/>
          <a:lstStyle/>
          <a:p>
            <a:pPr rtl="0"/>
            <a:r>
              <a:rPr lang="fr-FR" dirty="0"/>
              <a:t>3) Diagrammes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B065C75-272B-4BB5-BA23-D80E8654D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 rtl="0"/>
              <a:t>5</a:t>
            </a:fld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CDDBE65-9AB1-4989-AF86-726591A6A128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444500" y="1534284"/>
            <a:ext cx="6802438" cy="366712"/>
          </a:xfrm>
        </p:spPr>
        <p:txBody>
          <a:bodyPr rtlCol="0">
            <a:normAutofit fontScale="62500" lnSpcReduction="20000"/>
          </a:bodyPr>
          <a:lstStyle/>
          <a:p>
            <a:pPr marL="0" indent="0" rtl="0">
              <a:buNone/>
            </a:pPr>
            <a:r>
              <a:rPr lang="fr-FR" dirty="0">
                <a:solidFill>
                  <a:schemeClr val="bg1"/>
                </a:solidFill>
              </a:rPr>
              <a:t>Diagramme des cas d’utilisation et diagramme des exigences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0CB3B44-A56A-0F84-A876-1C7B1AB2AA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1570" y="2034307"/>
            <a:ext cx="5763582" cy="3563412"/>
          </a:xfrm>
          <a:prstGeom prst="rect">
            <a:avLst/>
          </a:prstGeom>
        </p:spPr>
      </p:pic>
      <p:pic>
        <p:nvPicPr>
          <p:cNvPr id="3" name="Image3">
            <a:extLst>
              <a:ext uri="{FF2B5EF4-FFF2-40B4-BE49-F238E27FC236}">
                <a16:creationId xmlns:a16="http://schemas.microsoft.com/office/drawing/2014/main" id="{C5FB0792-1BDB-54B5-D664-2235BD02FDC7}"/>
              </a:ext>
            </a:extLst>
          </p:cNvPr>
          <p:cNvPicPr/>
          <p:nvPr/>
        </p:nvPicPr>
        <p:blipFill>
          <a:blip r:embed="rId4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70982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33D699-0088-0955-C69B-5E69D4A2E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3) Diagrammes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DE1F350-2A73-EC65-EAC9-3E73F26FA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6</a:t>
            </a:fld>
            <a:endParaRPr lang="fr-FR" noProof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F2B3382-AF20-7A4D-49FB-611B075464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9565" y="1381282"/>
            <a:ext cx="8568204" cy="529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805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20A0403-F08D-4CDF-ACFF-5C7793B1D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fr-FR" dirty="0"/>
              <a:t>4) Mesure et calcul de la consommation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22B0D8D-84B3-689B-3AF0-4CEC6454B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7</a:t>
            </a:fld>
            <a:endParaRPr lang="fr-FR" noProof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22FD2FC-3598-3892-6CA0-0CDF8163C8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625385"/>
            <a:ext cx="5056359" cy="4093243"/>
          </a:xfrm>
        </p:spPr>
        <p:txBody>
          <a:bodyPr/>
          <a:lstStyle/>
          <a:p>
            <a:r>
              <a:rPr lang="fr-FR" dirty="0"/>
              <a:t>Mesure de la consommation de chaque composant principal</a:t>
            </a:r>
          </a:p>
          <a:p>
            <a:pPr>
              <a:buFontTx/>
              <a:buChar char="-"/>
            </a:pPr>
            <a:r>
              <a:rPr lang="fr-FR" dirty="0"/>
              <a:t>Consommation maximale, au repos et valeurs fabricant (datasheet)</a:t>
            </a:r>
          </a:p>
          <a:p>
            <a:pPr>
              <a:buFontTx/>
              <a:buChar char="-"/>
            </a:pPr>
            <a:r>
              <a:rPr lang="fr-FR" dirty="0"/>
              <a:t>Composant le plus énergivore : moteur pas-à-pas (ancien moteur)</a:t>
            </a:r>
          </a:p>
          <a:p>
            <a:pPr>
              <a:buFontTx/>
              <a:buChar char="-"/>
            </a:pPr>
            <a:r>
              <a:rPr lang="fr-FR" dirty="0"/>
              <a:t>Évolution du courant du moteur pas-à-pas en fonction de la vitesse</a:t>
            </a:r>
          </a:p>
          <a:p>
            <a:pPr>
              <a:buFontTx/>
              <a:buChar char="-"/>
            </a:pPr>
            <a:r>
              <a:rPr lang="fr-FR" dirty="0"/>
              <a:t>Consommation se stabilise à partir d'un certain seuil  </a:t>
            </a:r>
          </a:p>
          <a:p>
            <a:pPr>
              <a:buFontTx/>
              <a:buChar char="-"/>
            </a:pPr>
            <a:r>
              <a:rPr lang="fr-FR" dirty="0"/>
              <a:t>Validation de la batterie 12V retenue pour l'autonomie du système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EDD25736-22D6-C9FE-628C-510103EC00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859" y="3709056"/>
            <a:ext cx="6691141" cy="2496543"/>
          </a:xfrm>
          <a:prstGeom prst="rect">
            <a:avLst/>
          </a:prstGeom>
        </p:spPr>
      </p:pic>
      <p:pic>
        <p:nvPicPr>
          <p:cNvPr id="2" name="Image3">
            <a:extLst>
              <a:ext uri="{FF2B5EF4-FFF2-40B4-BE49-F238E27FC236}">
                <a16:creationId xmlns:a16="http://schemas.microsoft.com/office/drawing/2014/main" id="{D74908F7-D1B7-6EB7-8BE1-7DBE338F3464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94007CA-573C-F666-F277-FB840AE0E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714" y="1005998"/>
            <a:ext cx="6487430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81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D5E9E3-63C9-08C1-E1BE-1F93FB44D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4) Mesure et calcul de la consommation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A12CED5-7287-C423-B6EC-70406B887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8</a:t>
            </a:fld>
            <a:endParaRPr lang="fr-FR" noProof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02C0CEE-C6B3-4D52-34A9-72882F5CD1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fr-FR" dirty="0"/>
              <a:t>Tableau relevé par le panneau solaire avec une </a:t>
            </a:r>
            <a:r>
              <a:rPr lang="fr-FR" dirty="0" err="1"/>
              <a:t>resistance</a:t>
            </a:r>
            <a:r>
              <a:rPr lang="fr-FR" dirty="0"/>
              <a:t> variable</a:t>
            </a:r>
          </a:p>
          <a:p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28DF5CF-7F3B-D353-4B62-1F99EC3625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29" y="2823782"/>
            <a:ext cx="4329997" cy="1745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264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444500" y="516005"/>
            <a:ext cx="11214100" cy="535531"/>
          </a:xfrm>
        </p:spPr>
        <p:txBody>
          <a:bodyPr rtlCol="0"/>
          <a:lstStyle/>
          <a:p>
            <a:pPr rtl="0"/>
            <a:r>
              <a:rPr lang="fr-FR" dirty="0"/>
              <a:t>5) Site et codes</a:t>
            </a:r>
          </a:p>
        </p:txBody>
      </p:sp>
      <p:sp>
        <p:nvSpPr>
          <p:cNvPr id="2" name="Numero diapo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 rtl="0"/>
              <a:t>9</a:t>
            </a:fld>
            <a:endParaRPr lang="fr-FR"/>
          </a:p>
        </p:txBody>
      </p:sp>
      <p:sp>
        <p:nvSpPr>
          <p:cNvPr id="5" name="Contenu"/>
          <p:cNvSpPr>
            <a:spLocks noGrp="1"/>
          </p:cNvSpPr>
          <p:nvPr>
            <p:ph type="body" sz="quarter" idx="13"/>
          </p:nvPr>
        </p:nvSpPr>
        <p:spPr>
          <a:xfrm>
            <a:off x="174155" y="1802271"/>
            <a:ext cx="11214099" cy="5365754"/>
          </a:xfrm>
        </p:spPr>
        <p:txBody>
          <a:bodyPr rtlCol="0"/>
          <a:lstStyle/>
          <a:p>
            <a:pPr marL="342900" indent="-342900" rtl="0"/>
            <a:r>
              <a:rPr lang="fr-FR" sz="1800" b="1" dirty="0">
                <a:solidFill>
                  <a:schemeClr val="bg1"/>
                </a:solidFill>
              </a:rPr>
              <a:t>Interface web embarquée (IHM)</a:t>
            </a:r>
          </a:p>
          <a:p>
            <a:pPr marL="6858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Page HTML hébergée directement sur l’ESP32</a:t>
            </a:r>
          </a:p>
          <a:p>
            <a:pPr marL="342900" indent="0" rtl="0">
              <a:buNone/>
            </a:pPr>
            <a:endParaRPr lang="fr-FR" sz="16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L’ESP32 crée son propre réseau Wi-Fi, accessible directement depuis un téléphone</a:t>
            </a:r>
          </a:p>
          <a:p>
            <a:pPr marL="342900" indent="0" rtl="0">
              <a:buNone/>
            </a:pPr>
            <a:endParaRPr lang="fr-FR" sz="16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Affichage en temps réel : hauteur d’eau, tension batterie, courant solaire</a:t>
            </a:r>
          </a:p>
          <a:p>
            <a:pPr marL="342900" indent="0" rtl="0">
              <a:buNone/>
            </a:pPr>
            <a:endParaRPr lang="fr-FR" sz="16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Envoi des données vers ThingSpeak toutes les 15 secondes</a:t>
            </a:r>
          </a:p>
          <a:p>
            <a:pPr marL="342900" indent="0" rtl="0">
              <a:buNone/>
            </a:pPr>
            <a:endParaRPr lang="fr-FR" sz="16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Accessible sans box ni internet : idéal pour un site isolé comme un moulin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2D3288D-7D97-DB38-42F5-6811E9DF2773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9103148" y="1370845"/>
            <a:ext cx="2285106" cy="4784717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7" name="Image3">
            <a:extLst>
              <a:ext uri="{FF2B5EF4-FFF2-40B4-BE49-F238E27FC236}">
                <a16:creationId xmlns:a16="http://schemas.microsoft.com/office/drawing/2014/main" id="{42FFAD90-61C5-F78D-92BD-65C5C03026A4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02B1A51-0F48-A4D8-99E7-F737CCDEF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5) Site et codes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76FC3BC-F03A-C119-2E1D-533EDAF1D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10</a:t>
            </a:fld>
            <a:endParaRPr lang="fr-FR" noProof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A4C90AA-8285-62FA-9A71-3FDFEC5972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1620" y="1601531"/>
            <a:ext cx="6718300" cy="4093243"/>
          </a:xfrm>
        </p:spPr>
        <p:txBody>
          <a:bodyPr/>
          <a:lstStyle/>
          <a:p>
            <a:pPr marL="342900" indent="-342900"/>
            <a:r>
              <a:rPr lang="fr-FR" dirty="0"/>
              <a:t>Algorigramme du site </a:t>
            </a:r>
          </a:p>
        </p:txBody>
      </p:sp>
      <p:pic>
        <p:nvPicPr>
          <p:cNvPr id="6" name="Image10">
            <a:extLst>
              <a:ext uri="{FF2B5EF4-FFF2-40B4-BE49-F238E27FC236}">
                <a16:creationId xmlns:a16="http://schemas.microsoft.com/office/drawing/2014/main" id="{9DFEBD3E-0D2F-3919-EC23-91AB697611F5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6051550" y="1558220"/>
            <a:ext cx="5696710" cy="4277090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7" name="Image3">
            <a:extLst>
              <a:ext uri="{FF2B5EF4-FFF2-40B4-BE49-F238E27FC236}">
                <a16:creationId xmlns:a16="http://schemas.microsoft.com/office/drawing/2014/main" id="{8025A8A9-ACD7-0E78-4FF2-7826C7DE7843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8" name="Image9">
            <a:extLst>
              <a:ext uri="{FF2B5EF4-FFF2-40B4-BE49-F238E27FC236}">
                <a16:creationId xmlns:a16="http://schemas.microsoft.com/office/drawing/2014/main" id="{3C0473FD-3FF2-1B8C-E9BA-6BF1B5D0504A}"/>
              </a:ext>
            </a:extLst>
          </p:cNvPr>
          <p:cNvPicPr/>
          <p:nvPr/>
        </p:nvPicPr>
        <p:blipFill>
          <a:blip r:embed="rId4">
            <a:lum/>
            <a:alphaModFix/>
          </a:blip>
          <a:srcRect t="4202" r="22768"/>
          <a:stretch>
            <a:fillRect/>
          </a:stretch>
        </p:blipFill>
        <p:spPr>
          <a:xfrm>
            <a:off x="533400" y="2044906"/>
            <a:ext cx="4475922" cy="4452731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36204138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444500" y="407753"/>
            <a:ext cx="11214100" cy="535531"/>
          </a:xfrm>
        </p:spPr>
        <p:txBody>
          <a:bodyPr rtlCol="0"/>
          <a:lstStyle/>
          <a:p>
            <a:pPr rtl="0"/>
            <a:r>
              <a:rPr lang="fr-FR" dirty="0"/>
              <a:t>6) Schéma et routage</a:t>
            </a:r>
          </a:p>
        </p:txBody>
      </p:sp>
      <p:sp>
        <p:nvSpPr>
          <p:cNvPr id="2" name="Numero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 rtl="0"/>
              <a:t>11</a:t>
            </a:fld>
            <a:endParaRPr lang="fr-FR"/>
          </a:p>
        </p:txBody>
      </p:sp>
      <p:sp>
        <p:nvSpPr>
          <p:cNvPr id="5" name="Contenu"/>
          <p:cNvSpPr>
            <a:spLocks noGrp="1"/>
          </p:cNvSpPr>
          <p:nvPr>
            <p:ph type="body" sz="quarter" idx="13"/>
          </p:nvPr>
        </p:nvSpPr>
        <p:spPr>
          <a:xfrm>
            <a:off x="261621" y="1601531"/>
            <a:ext cx="5834379" cy="5365754"/>
          </a:xfrm>
        </p:spPr>
        <p:txBody>
          <a:bodyPr rtlCol="0"/>
          <a:lstStyle/>
          <a:p>
            <a:pPr marL="342900" indent="-342900" rtl="0"/>
            <a:r>
              <a:rPr lang="fr-FR" sz="1800" b="1" dirty="0">
                <a:solidFill>
                  <a:schemeClr val="bg1"/>
                </a:solidFill>
              </a:rPr>
              <a:t>Saisie du schéma (Proteus 8)</a:t>
            </a:r>
          </a:p>
          <a:p>
            <a:pPr marL="0" indent="0" rtl="0">
              <a:buNone/>
            </a:pPr>
            <a:endParaRPr lang="fr-FR" sz="1800" b="1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Protection contre l’inversion de polarité : MOSFET canal P (Q1) + R17 + référence Zener LM4040</a:t>
            </a:r>
          </a:p>
          <a:p>
            <a:pPr marL="342900" indent="0" rtl="0">
              <a:buNone/>
            </a:pPr>
            <a:endParaRPr lang="fr-FR" sz="16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Condensateurs de filtrage C8 et C9</a:t>
            </a:r>
          </a:p>
          <a:p>
            <a:pPr marL="342900" indent="0" rtl="0">
              <a:buNone/>
            </a:pPr>
            <a:endParaRPr lang="fr-FR" sz="1600" dirty="0">
              <a:solidFill>
                <a:schemeClr val="bg1"/>
              </a:solidFill>
            </a:endParaRPr>
          </a:p>
          <a:p>
            <a:pPr marL="685800" indent="-342900">
              <a:buFont typeface="Arial" panose="020B0604020202020204" pitchFamily="34" charset="0"/>
              <a:buChar char="-"/>
            </a:pPr>
            <a:r>
              <a:rPr lang="fr-FR" sz="1600" dirty="0">
                <a:solidFill>
                  <a:schemeClr val="bg1"/>
                </a:solidFill>
              </a:rPr>
              <a:t>Régulateur de tension a découpage (U3) : pour convertir la tension 12V en 5V</a:t>
            </a:r>
          </a:p>
          <a:p>
            <a:pPr marL="342900" indent="0">
              <a:buNone/>
            </a:pPr>
            <a:endParaRPr lang="fr-FR" sz="1600" dirty="0">
              <a:solidFill>
                <a:schemeClr val="bg1"/>
              </a:solidFill>
            </a:endParaRPr>
          </a:p>
        </p:txBody>
      </p:sp>
      <p:pic>
        <p:nvPicPr>
          <p:cNvPr id="3" name="Image3">
            <a:extLst>
              <a:ext uri="{FF2B5EF4-FFF2-40B4-BE49-F238E27FC236}">
                <a16:creationId xmlns:a16="http://schemas.microsoft.com/office/drawing/2014/main" id="{39F43569-A4E4-A5C1-B8A5-2C6D30801F13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4845AAD-C427-F923-BAF5-7EB8AEA9FD7C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rot="5400013">
            <a:off x="7408768" y="838877"/>
            <a:ext cx="2739867" cy="3745252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6BB7F24-E6CF-5AC3-17FA-E32C3AF2989C}"/>
              </a:ext>
            </a:extLst>
          </p:cNvPr>
          <p:cNvPicPr/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 rot="5400013">
            <a:off x="7570615" y="2927976"/>
            <a:ext cx="2416175" cy="4723130"/>
          </a:xfrm>
          <a:prstGeom prst="rect">
            <a:avLst/>
          </a:prstGeom>
          <a:noFill/>
          <a:ln>
            <a:noFill/>
            <a:prstDash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D2CA9C16-F0AC-E185-42C3-B5F3419B9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6) Schéma et routage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FE459F9-2567-7DE4-A2A3-A4383C14D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12</a:t>
            </a:fld>
            <a:endParaRPr lang="fr-FR" noProof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60962B86-38E0-ECD0-2D8C-C804085C70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-190831" y="1985338"/>
            <a:ext cx="4675367" cy="4579079"/>
          </a:xfrm>
        </p:spPr>
        <p:txBody>
          <a:bodyPr/>
          <a:lstStyle/>
          <a:p>
            <a:pPr marL="685800" indent="-342900">
              <a:buChar char="-"/>
            </a:pPr>
            <a:r>
              <a:rPr lang="fr-FR" dirty="0"/>
              <a:t>Convertisseur ADC (I²C) : mesure tension batterie </a:t>
            </a:r>
          </a:p>
          <a:p>
            <a:pPr marL="685800" indent="-342900">
              <a:buChar char="-"/>
            </a:pPr>
            <a:r>
              <a:rPr lang="fr-FR" dirty="0"/>
              <a:t>Diodes Zener en protection de l’entrée AIN de U2</a:t>
            </a:r>
          </a:p>
          <a:p>
            <a:pPr marL="685800" indent="-342900">
              <a:buChar char="-"/>
            </a:pPr>
            <a:r>
              <a:rPr lang="fr-FR" dirty="0"/>
              <a:t>LEDs indicatrices de présence de tension (VBAT, 5V, 3,3V)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B74DF4E9-180A-366D-05C8-26F3F3A529E9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 rot="5400013">
            <a:off x="7231925" y="1024864"/>
            <a:ext cx="2650273" cy="4571236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B4C2532D-9B5A-D4BA-EA29-4B7A1866819E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rot="5400013">
            <a:off x="1865201" y="2962652"/>
            <a:ext cx="2863847" cy="4571233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2304892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453B23-027D-6FFD-3B5A-83D011F0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6) Schéma et routage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8B63523-11A3-4729-2E7D-0FF45A3D7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13</a:t>
            </a:fld>
            <a:endParaRPr lang="fr-FR" noProof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25CFA3C-35FC-BEB4-5D1D-13B6FC5F61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17449" y="1336662"/>
            <a:ext cx="9855842" cy="4579079"/>
          </a:xfrm>
        </p:spPr>
        <p:txBody>
          <a:bodyPr/>
          <a:lstStyle/>
          <a:p>
            <a:pPr marL="342900" indent="-342900"/>
            <a:r>
              <a:rPr lang="fr-FR" sz="1800" b="1" dirty="0"/>
              <a:t>Routage PCB</a:t>
            </a:r>
          </a:p>
          <a:p>
            <a:pPr marL="685800" indent="-342900">
              <a:buChar char="-"/>
            </a:pPr>
            <a:r>
              <a:rPr lang="fr-FR" dirty="0"/>
              <a:t>Séparation des plans de masse numérique (GND) et puissance (VBAT)</a:t>
            </a:r>
          </a:p>
          <a:p>
            <a:pPr marL="685800" indent="-342900">
              <a:buChar char="-"/>
            </a:pPr>
            <a:r>
              <a:rPr lang="fr-FR" dirty="0"/>
              <a:t>Condensateurs de découplage positionnés au plus près des circuits intégrés</a:t>
            </a:r>
          </a:p>
          <a:p>
            <a:pPr marL="685800" indent="-342900">
              <a:buChar char="-"/>
            </a:pPr>
            <a:r>
              <a:rPr lang="fr-FR" dirty="0"/>
              <a:t>Pistes de puissance élargies pour la tenue en courant</a:t>
            </a:r>
          </a:p>
          <a:p>
            <a:pPr marL="342900"/>
            <a:endParaRPr lang="fr-FR" dirty="0"/>
          </a:p>
          <a:p>
            <a:endParaRPr lang="fr-FR" dirty="0"/>
          </a:p>
        </p:txBody>
      </p:sp>
      <p:pic>
        <p:nvPicPr>
          <p:cNvPr id="6" name="Image11">
            <a:extLst>
              <a:ext uri="{FF2B5EF4-FFF2-40B4-BE49-F238E27FC236}">
                <a16:creationId xmlns:a16="http://schemas.microsoft.com/office/drawing/2014/main" id="{03751F16-E16D-390D-F127-3A05C9053BF7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68522" y="2696133"/>
            <a:ext cx="5390543" cy="4161867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8" name="Image13">
            <a:extLst>
              <a:ext uri="{FF2B5EF4-FFF2-40B4-BE49-F238E27FC236}">
                <a16:creationId xmlns:a16="http://schemas.microsoft.com/office/drawing/2014/main" id="{49BF50AB-83EF-9F0B-46A0-BE8B295B2D6C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096000" y="2696132"/>
            <a:ext cx="5390543" cy="4161867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3622537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525BBFD-30A2-2DA1-A3D7-DE0FE0C0C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14</a:t>
            </a:fld>
            <a:endParaRPr lang="fr-FR" noProof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00399673-A7E8-2C5D-C81E-95C4BF310A09}"/>
              </a:ext>
            </a:extLst>
          </p:cNvPr>
          <p:cNvSpPr txBox="1">
            <a:spLocks/>
          </p:cNvSpPr>
          <p:nvPr/>
        </p:nvSpPr>
        <p:spPr>
          <a:xfrm>
            <a:off x="488950" y="495679"/>
            <a:ext cx="11214100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200" b="1" kern="1200" spc="-7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6) Schéma et routage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B4144BA-3C21-4C8F-7F5B-033A8E44561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087969" y="1792287"/>
            <a:ext cx="4838700" cy="3639185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09F3028-47DD-B08A-5748-237D4BD1AD7A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6451600" y="1792287"/>
            <a:ext cx="4800600" cy="3618865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17466956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444500" y="407753"/>
            <a:ext cx="11214100" cy="535531"/>
          </a:xfrm>
        </p:spPr>
        <p:txBody>
          <a:bodyPr rtlCol="0"/>
          <a:lstStyle/>
          <a:p>
            <a:pPr rtl="0"/>
            <a:r>
              <a:rPr lang="fr-FR" dirty="0"/>
              <a:t>6) Assemblage de la carte</a:t>
            </a:r>
          </a:p>
        </p:txBody>
      </p:sp>
      <p:sp>
        <p:nvSpPr>
          <p:cNvPr id="2" name="Numero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 rtl="0"/>
              <a:t>15</a:t>
            </a:fld>
            <a:endParaRPr lang="fr-FR"/>
          </a:p>
        </p:txBody>
      </p:sp>
      <p:sp>
        <p:nvSpPr>
          <p:cNvPr id="5" name="Contenu"/>
          <p:cNvSpPr>
            <a:spLocks noGrp="1"/>
          </p:cNvSpPr>
          <p:nvPr>
            <p:ph type="body" sz="quarter" idx="13"/>
          </p:nvPr>
        </p:nvSpPr>
        <p:spPr>
          <a:xfrm>
            <a:off x="346965" y="1655436"/>
            <a:ext cx="5314364" cy="5365754"/>
          </a:xfrm>
        </p:spPr>
        <p:txBody>
          <a:bodyPr rtlCol="0"/>
          <a:lstStyle/>
          <a:p>
            <a:pPr marL="342900" indent="-342900" rtl="0"/>
            <a:r>
              <a:rPr lang="fr-FR" sz="1800" b="1" dirty="0">
                <a:solidFill>
                  <a:schemeClr val="bg1"/>
                </a:solidFill>
              </a:rPr>
              <a:t>Réalisé dans les locaux de la Licence CPSE</a:t>
            </a:r>
          </a:p>
          <a:p>
            <a:pPr marL="0" indent="0" rtl="0">
              <a:buNone/>
            </a:pPr>
            <a:endParaRPr lang="fr-FR" sz="1800" b="1" dirty="0">
              <a:solidFill>
                <a:schemeClr val="bg1"/>
              </a:solidFill>
            </a:endParaRPr>
          </a:p>
          <a:p>
            <a:pPr rtl="0">
              <a:buFontTx/>
              <a:buChar char="-"/>
            </a:pPr>
            <a:r>
              <a:rPr lang="fr-FR" sz="1600" dirty="0">
                <a:solidFill>
                  <a:schemeClr val="bg1"/>
                </a:solidFill>
              </a:rPr>
              <a:t>  Sérigraphie de la pâte à braser</a:t>
            </a:r>
          </a:p>
          <a:p>
            <a:pPr rtl="0">
              <a:buFontTx/>
              <a:buChar char="-"/>
            </a:pPr>
            <a:endParaRPr lang="fr-FR" sz="1600" dirty="0">
              <a:solidFill>
                <a:schemeClr val="bg1"/>
              </a:solidFill>
            </a:endParaRPr>
          </a:p>
          <a:p>
            <a:pPr marL="3429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Pochoir métallique découpé précisément aux emplacements des pastilles PCB</a:t>
            </a:r>
          </a:p>
          <a:p>
            <a:pPr marL="342900" indent="-342900" rtl="0">
              <a:buChar char="-"/>
            </a:pPr>
            <a:endParaRPr lang="fr-FR" sz="1600" dirty="0">
              <a:solidFill>
                <a:schemeClr val="bg1"/>
              </a:solidFill>
            </a:endParaRPr>
          </a:p>
          <a:p>
            <a:pPr marL="342900" indent="-342900" rtl="0">
              <a:buChar char="-"/>
            </a:pPr>
            <a:r>
              <a:rPr lang="fr-FR" sz="1600" dirty="0">
                <a:solidFill>
                  <a:schemeClr val="bg1"/>
                </a:solidFill>
              </a:rPr>
              <a:t>Étalement à la raclette en un seul passage (port de gants obligatoire)</a:t>
            </a:r>
          </a:p>
        </p:txBody>
      </p:sp>
      <p:pic>
        <p:nvPicPr>
          <p:cNvPr id="3" name="Image3">
            <a:extLst>
              <a:ext uri="{FF2B5EF4-FFF2-40B4-BE49-F238E27FC236}">
                <a16:creationId xmlns:a16="http://schemas.microsoft.com/office/drawing/2014/main" id="{3BA7628B-65F9-BFF4-E7F4-97AEB55F4F23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BC96EF4-8E19-36F8-8F22-668026F0AA99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6096000" y="2170816"/>
            <a:ext cx="2424540" cy="3184277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DF5FA14-D787-068A-7B65-4871C49C3615}"/>
              </a:ext>
            </a:extLst>
          </p:cNvPr>
          <p:cNvPicPr/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806615" y="2687601"/>
            <a:ext cx="3038420" cy="2264821"/>
          </a:xfrm>
          <a:prstGeom prst="rect">
            <a:avLst/>
          </a:prstGeom>
          <a:noFill/>
          <a:ln>
            <a:noFill/>
            <a:prstDash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06D6CE8-3B65-6F0D-18ED-C276E8C66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6) Assemblage de la carte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423C746-DF52-3609-6DDC-4B7F6475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16</a:t>
            </a:fld>
            <a:endParaRPr lang="fr-FR" noProof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9520E02-64D1-85CD-A74F-C1A160C63E9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15346" y="1681771"/>
            <a:ext cx="10139402" cy="4092575"/>
          </a:xfrm>
        </p:spPr>
        <p:txBody>
          <a:bodyPr/>
          <a:lstStyle/>
          <a:p>
            <a:pPr marL="0" indent="0">
              <a:buNone/>
            </a:pPr>
            <a:r>
              <a:rPr lang="fr-FR" sz="1600" dirty="0">
                <a:solidFill>
                  <a:schemeClr val="bg1"/>
                </a:solidFill>
              </a:rPr>
              <a:t>Pose des composants : placeuse à aspiration manuelle et placeuse automatique</a:t>
            </a:r>
          </a:p>
          <a:p>
            <a:endParaRPr lang="fr-FR" dirty="0"/>
          </a:p>
        </p:txBody>
      </p:sp>
      <p:pic>
        <p:nvPicPr>
          <p:cNvPr id="6" name="drawing">
            <a:extLst>
              <a:ext uri="{FF2B5EF4-FFF2-40B4-BE49-F238E27FC236}">
                <a16:creationId xmlns:a16="http://schemas.microsoft.com/office/drawing/2014/main" id="{7F532EA4-BAB4-FB0B-9262-400F6822D790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15346" y="2416547"/>
            <a:ext cx="2163445" cy="2894965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7" name="Image15">
            <a:extLst>
              <a:ext uri="{FF2B5EF4-FFF2-40B4-BE49-F238E27FC236}">
                <a16:creationId xmlns:a16="http://schemas.microsoft.com/office/drawing/2014/main" id="{A67FCFE6-ECAB-053B-BBF8-626A52667EAB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3116268" y="2729975"/>
            <a:ext cx="2985770" cy="2238375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56CABD4-D2AC-B450-4481-B824F74B548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6539515" y="2142171"/>
            <a:ext cx="2449830" cy="3268345"/>
          </a:xfrm>
          <a:prstGeom prst="rect">
            <a:avLst/>
          </a:prstGeom>
          <a:noFill/>
          <a:ln>
            <a:noFill/>
            <a:prstDash/>
          </a:ln>
        </p:spPr>
      </p:pic>
      <p:grpSp>
        <p:nvGrpSpPr>
          <p:cNvPr id="9" name="Groupe 8">
            <a:extLst>
              <a:ext uri="{FF2B5EF4-FFF2-40B4-BE49-F238E27FC236}">
                <a16:creationId xmlns:a16="http://schemas.microsoft.com/office/drawing/2014/main" id="{1D706A35-C85E-F338-EB39-38F833E16B5A}"/>
              </a:ext>
            </a:extLst>
          </p:cNvPr>
          <p:cNvGrpSpPr/>
          <p:nvPr/>
        </p:nvGrpSpPr>
        <p:grpSpPr>
          <a:xfrm>
            <a:off x="9178231" y="2623240"/>
            <a:ext cx="2803525" cy="2481580"/>
            <a:chOff x="0" y="0"/>
            <a:chExt cx="2804153" cy="2481580"/>
          </a:xfrm>
        </p:grpSpPr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4CD03192-DA03-639C-FE3A-9C072E3161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431" r="5256" b="-431"/>
            <a:stretch>
              <a:fillRect/>
            </a:stretch>
          </p:blipFill>
          <p:spPr>
            <a:xfrm>
              <a:off x="0" y="0"/>
              <a:ext cx="2792284" cy="2209638"/>
            </a:xfrm>
            <a:prstGeom prst="rect">
              <a:avLst/>
            </a:prstGeom>
            <a:noFill/>
            <a:ln>
              <a:noFill/>
              <a:prstDash/>
            </a:ln>
          </p:spPr>
        </p:pic>
        <p:sp>
          <p:nvSpPr>
            <p:cNvPr id="11" name="Zone de texte 7">
              <a:extLst>
                <a:ext uri="{FF2B5EF4-FFF2-40B4-BE49-F238E27FC236}">
                  <a16:creationId xmlns:a16="http://schemas.microsoft.com/office/drawing/2014/main" id="{9D2F30ED-472B-1FCD-6364-F11BBE8F7E2B}"/>
                </a:ext>
              </a:extLst>
            </p:cNvPr>
            <p:cNvSpPr txBox="1"/>
            <p:nvPr/>
          </p:nvSpPr>
          <p:spPr>
            <a:xfrm>
              <a:off x="11869" y="2208641"/>
              <a:ext cx="2792284" cy="272939"/>
            </a:xfrm>
            <a:prstGeom prst="rect">
              <a:avLst/>
            </a:prstGeom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algn="ctr">
                <a:buNone/>
              </a:pPr>
              <a:endParaRPr lang="fr-FR" sz="1200" kern="15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F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18875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DB4894-41F6-A546-C11E-436EE26AD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6) Assemblage de la carte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D7D646B-A581-93C4-21B5-69DF7E459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17</a:t>
            </a:fld>
            <a:endParaRPr lang="fr-FR" noProof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0CB5FD5-A46D-A0C6-578B-D1CB85DFF2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9968" y="1506116"/>
            <a:ext cx="7967980" cy="4093243"/>
          </a:xfrm>
        </p:spPr>
        <p:txBody>
          <a:bodyPr/>
          <a:lstStyle/>
          <a:p>
            <a:pPr>
              <a:buFontTx/>
              <a:buChar char="-"/>
            </a:pPr>
            <a:r>
              <a:rPr lang="fr-FR" dirty="0"/>
              <a:t>Refusion au four avec un profil thermique une montée progressive, pic ~250°C puis refroidissement dégressif </a:t>
            </a:r>
          </a:p>
          <a:p>
            <a:pPr>
              <a:buFontTx/>
              <a:buChar char="-"/>
            </a:pPr>
            <a:r>
              <a:rPr lang="fr-FR" dirty="0"/>
              <a:t>Inspection visuelle à la loupe : détection des ponts de soudure et soudures froides</a:t>
            </a:r>
          </a:p>
          <a:p>
            <a:pPr>
              <a:buFontTx/>
              <a:buChar char="-"/>
            </a:pPr>
            <a:r>
              <a:rPr lang="fr-FR" dirty="0"/>
              <a:t>Tests fonctionnels bloc par bloc (Lidar, moteur, batterie, serveur web)</a:t>
            </a:r>
          </a:p>
          <a:p>
            <a:pPr marL="0" indent="0">
              <a:buNone/>
            </a:pPr>
            <a:endParaRPr lang="fr-FR" dirty="0"/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3CF4D4-8CBD-BF3C-4315-566D21325AB3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2939837" y="3429000"/>
            <a:ext cx="2287905" cy="3045460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D1CDD89-39FB-B550-6730-14FC88096F16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 flipH="1">
            <a:off x="6505784" y="3250882"/>
            <a:ext cx="2434590" cy="3246755"/>
          </a:xfrm>
          <a:prstGeom prst="rect">
            <a:avLst/>
          </a:prstGeom>
          <a:noFill/>
          <a:ln>
            <a:noFill/>
            <a:prstDash/>
          </a:ln>
        </p:spPr>
      </p:pic>
    </p:spTree>
    <p:extLst>
      <p:ext uri="{BB962C8B-B14F-4D97-AF65-F5344CB8AC3E}">
        <p14:creationId xmlns:p14="http://schemas.microsoft.com/office/powerpoint/2010/main" val="758409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444500" y="407753"/>
            <a:ext cx="11214100" cy="535531"/>
          </a:xfrm>
        </p:spPr>
        <p:txBody>
          <a:bodyPr rtlCol="0"/>
          <a:lstStyle/>
          <a:p>
            <a:pPr rtl="0"/>
            <a:r>
              <a:rPr lang="fr-FR" dirty="0"/>
              <a:t>7) Problèmes rencontrés</a:t>
            </a:r>
          </a:p>
        </p:txBody>
      </p:sp>
      <p:sp>
        <p:nvSpPr>
          <p:cNvPr id="2" name="Numero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 rtl="0"/>
              <a:t>18</a:t>
            </a:fld>
            <a:endParaRPr lang="fr-FR"/>
          </a:p>
        </p:txBody>
      </p:sp>
      <p:sp>
        <p:nvSpPr>
          <p:cNvPr id="5" name="Contenu"/>
          <p:cNvSpPr>
            <a:spLocks noGrp="1"/>
          </p:cNvSpPr>
          <p:nvPr>
            <p:ph type="body" sz="quarter" idx="13"/>
          </p:nvPr>
        </p:nvSpPr>
        <p:spPr>
          <a:xfrm>
            <a:off x="38102" y="1752972"/>
            <a:ext cx="6903388" cy="5365754"/>
          </a:xfrm>
        </p:spPr>
        <p:txBody>
          <a:bodyPr rtlCol="0"/>
          <a:lstStyle/>
          <a:p>
            <a:pPr marL="685800" indent="-342900" rtl="0">
              <a:buChar char="-"/>
            </a:pPr>
            <a:r>
              <a:rPr lang="fr-FR" sz="1700" dirty="0">
                <a:solidFill>
                  <a:schemeClr val="bg1"/>
                </a:solidFill>
              </a:rPr>
              <a:t>Inversion des sorties moteur OUT1A / OUT1B au lieu de OUT1A/OUT2A</a:t>
            </a:r>
          </a:p>
          <a:p>
            <a:pPr marL="685800" indent="-342900" rtl="0">
              <a:buChar char="-"/>
            </a:pPr>
            <a:endParaRPr lang="fr-FR" sz="17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700" dirty="0">
                <a:solidFill>
                  <a:schemeClr val="bg1"/>
                </a:solidFill>
              </a:rPr>
              <a:t>Underscores oubliés dans ESP_RESET et ESP_BOOT</a:t>
            </a:r>
          </a:p>
          <a:p>
            <a:pPr marL="342900" indent="0" rtl="0">
              <a:buNone/>
            </a:pPr>
            <a:endParaRPr lang="fr-FR" sz="17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700" dirty="0">
                <a:solidFill>
                  <a:schemeClr val="bg1"/>
                </a:solidFill>
              </a:rPr>
              <a:t>Broche 18 du FT232RL non connectée au 3,3V</a:t>
            </a:r>
          </a:p>
          <a:p>
            <a:pPr marL="342900" indent="0" rtl="0">
              <a:buNone/>
            </a:pPr>
            <a:endParaRPr lang="fr-FR" sz="17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700" dirty="0">
                <a:solidFill>
                  <a:schemeClr val="bg1"/>
                </a:solidFill>
              </a:rPr>
              <a:t>Empreinte incorrecte sur l’UMH3NTN</a:t>
            </a:r>
          </a:p>
          <a:p>
            <a:pPr marL="342900" indent="0" rtl="0">
              <a:buNone/>
            </a:pPr>
            <a:endParaRPr lang="fr-FR" sz="1700" dirty="0">
              <a:solidFill>
                <a:schemeClr val="bg1"/>
              </a:solidFill>
            </a:endParaRPr>
          </a:p>
          <a:p>
            <a:pPr marL="685800" indent="-342900" rtl="0">
              <a:buChar char="-"/>
            </a:pPr>
            <a:r>
              <a:rPr lang="fr-FR" sz="1700" dirty="0">
                <a:solidFill>
                  <a:schemeClr val="bg1"/>
                </a:solidFill>
              </a:rPr>
              <a:t>Hétérogénéité des empreintes de résistances</a:t>
            </a:r>
          </a:p>
        </p:txBody>
      </p:sp>
      <p:pic>
        <p:nvPicPr>
          <p:cNvPr id="3" name="Image3">
            <a:extLst>
              <a:ext uri="{FF2B5EF4-FFF2-40B4-BE49-F238E27FC236}">
                <a16:creationId xmlns:a16="http://schemas.microsoft.com/office/drawing/2014/main" id="{71FEBB30-A0F3-A6F5-A12D-FBB791923396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750326D-50BD-B591-77BB-E43AB2353ADB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374778" y="1428984"/>
            <a:ext cx="2801620" cy="2441575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736503C-BCB2-EB67-00C8-6F90433958B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7151575" y="3984266"/>
            <a:ext cx="3248025" cy="2133600"/>
          </a:xfrm>
          <a:prstGeom prst="rect">
            <a:avLst/>
          </a:prstGeom>
          <a:noFill/>
          <a:ln>
            <a:noFill/>
            <a:prstDash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444500" y="407753"/>
            <a:ext cx="11214100" cy="535531"/>
          </a:xfrm>
        </p:spPr>
        <p:txBody>
          <a:bodyPr rtlCol="0"/>
          <a:lstStyle/>
          <a:p>
            <a:pPr rtl="0"/>
            <a:r>
              <a:rPr lang="fr-FR" dirty="0"/>
              <a:t>8) Conclusion</a:t>
            </a:r>
          </a:p>
        </p:txBody>
      </p:sp>
      <p:sp>
        <p:nvSpPr>
          <p:cNvPr id="2" name="Numero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 rtl="0"/>
              <a:t>19</a:t>
            </a:fld>
            <a:endParaRPr lang="fr-FR"/>
          </a:p>
        </p:txBody>
      </p:sp>
      <p:sp>
        <p:nvSpPr>
          <p:cNvPr id="5" name="Contenu"/>
          <p:cNvSpPr>
            <a:spLocks noGrp="1"/>
          </p:cNvSpPr>
          <p:nvPr>
            <p:ph type="body" sz="quarter" idx="13"/>
          </p:nvPr>
        </p:nvSpPr>
        <p:spPr>
          <a:xfrm>
            <a:off x="444500" y="1594476"/>
            <a:ext cx="11214099" cy="5365754"/>
          </a:xfrm>
        </p:spPr>
        <p:txBody>
          <a:bodyPr rtlCol="0"/>
          <a:lstStyle/>
          <a:p>
            <a:pPr marL="342900" indent="-342900" rtl="0"/>
            <a:r>
              <a:rPr lang="fr-FR" sz="1800" b="1" dirty="0">
                <a:solidFill>
                  <a:schemeClr val="bg1"/>
                </a:solidFill>
              </a:rPr>
              <a:t>Bilan des compétences </a:t>
            </a:r>
          </a:p>
          <a:p>
            <a:pPr marL="0" indent="0" rtl="0">
              <a:buNone/>
            </a:pPr>
            <a:r>
              <a:rPr lang="fr-FR" sz="1600" dirty="0">
                <a:solidFill>
                  <a:schemeClr val="bg1"/>
                </a:solidFill>
              </a:rPr>
              <a:t>Bilan de consommation et dimensionnement de l’alimentation</a:t>
            </a:r>
          </a:p>
          <a:p>
            <a:pPr marL="0" indent="0" rtl="0">
              <a:buNone/>
            </a:pPr>
            <a:r>
              <a:rPr lang="fr-FR" sz="1600" dirty="0">
                <a:solidFill>
                  <a:schemeClr val="bg1"/>
                </a:solidFill>
              </a:rPr>
              <a:t>Vérification et saisie du schéma d’alimentation sur Proteus</a:t>
            </a:r>
          </a:p>
          <a:p>
            <a:pPr marL="0" indent="0" rtl="0">
              <a:buNone/>
            </a:pPr>
            <a:r>
              <a:rPr lang="fr-FR" sz="1600" dirty="0">
                <a:solidFill>
                  <a:schemeClr val="bg1"/>
                </a:solidFill>
              </a:rPr>
              <a:t>Routage PCB et assemblage CMS en conditions industrielles</a:t>
            </a:r>
          </a:p>
          <a:p>
            <a:pPr marL="0" indent="0" rtl="0">
              <a:buNone/>
            </a:pPr>
            <a:r>
              <a:rPr lang="fr-FR" sz="1600" dirty="0">
                <a:solidFill>
                  <a:schemeClr val="bg1"/>
                </a:solidFill>
              </a:rPr>
              <a:t>Développement MicroPython et interface web embarqués sur ESP32</a:t>
            </a:r>
          </a:p>
          <a:p>
            <a:pPr marL="0" indent="0" rtl="0">
              <a:buNone/>
            </a:pPr>
            <a:endParaRPr lang="fr-FR" sz="1600" dirty="0">
              <a:solidFill>
                <a:schemeClr val="bg1"/>
              </a:solidFill>
            </a:endParaRPr>
          </a:p>
          <a:p>
            <a:pPr marL="342900" indent="-342900" rtl="0"/>
            <a:r>
              <a:rPr lang="fr-FR" sz="1800" b="1" dirty="0">
                <a:solidFill>
                  <a:schemeClr val="bg1"/>
                </a:solidFill>
              </a:rPr>
              <a:t>Résultat concret</a:t>
            </a:r>
          </a:p>
          <a:p>
            <a:pPr marL="0" indent="0" rtl="0">
              <a:buNone/>
            </a:pPr>
            <a:r>
              <a:rPr lang="fr-FR" sz="1600" dirty="0">
                <a:solidFill>
                  <a:schemeClr val="bg1"/>
                </a:solidFill>
              </a:rPr>
              <a:t>Système fonctionnel : page web accessible depuis un téléphone via Wi-Fi de l’ESP32, sans internet</a:t>
            </a:r>
          </a:p>
          <a:p>
            <a:pPr marL="0" indent="0" rtl="0">
              <a:buNone/>
            </a:pPr>
            <a:r>
              <a:rPr lang="fr-FR" sz="1600" dirty="0">
                <a:solidFill>
                  <a:schemeClr val="bg1"/>
                </a:solidFill>
              </a:rPr>
              <a:t>Approche globale d’un système électronique autonome : énergie, hardware et software simultanément</a:t>
            </a:r>
          </a:p>
        </p:txBody>
      </p:sp>
      <p:pic>
        <p:nvPicPr>
          <p:cNvPr id="3" name="Image3">
            <a:extLst>
              <a:ext uri="{FF2B5EF4-FFF2-40B4-BE49-F238E27FC236}">
                <a16:creationId xmlns:a16="http://schemas.microsoft.com/office/drawing/2014/main" id="{B220B7F7-2F76-7B85-391A-863443F243CA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3201" y="2807208"/>
            <a:ext cx="4945598" cy="1243584"/>
          </a:xfrm>
        </p:spPr>
        <p:txBody>
          <a:bodyPr rtlCol="0"/>
          <a:lstStyle/>
          <a:p>
            <a:pPr algn="ctr" rtl="0"/>
            <a:r>
              <a:rPr lang="fr-FR" sz="8000" dirty="0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429771863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hème Office">
  <a:themeElements>
    <a:clrScheme name="Custom 12">
      <a:dk1>
        <a:srgbClr val="000000"/>
      </a:dk1>
      <a:lt1>
        <a:srgbClr val="FFFFFF"/>
      </a:lt1>
      <a:dk2>
        <a:srgbClr val="6D6E71"/>
      </a:dk2>
      <a:lt2>
        <a:srgbClr val="58595B"/>
      </a:lt2>
      <a:accent1>
        <a:srgbClr val="0065A4"/>
      </a:accent1>
      <a:accent2>
        <a:srgbClr val="47C3D3"/>
      </a:accent2>
      <a:accent3>
        <a:srgbClr val="8F2D63"/>
      </a:accent3>
      <a:accent4>
        <a:srgbClr val="1A6871"/>
      </a:accent4>
      <a:accent5>
        <a:srgbClr val="0C4360"/>
      </a:accent5>
      <a:accent6>
        <a:srgbClr val="F47735"/>
      </a:accent6>
      <a:hlink>
        <a:srgbClr val="00559A"/>
      </a:hlink>
      <a:folHlink>
        <a:srgbClr val="595851"/>
      </a:folHlink>
    </a:clrScheme>
    <a:fontScheme name="Custom 3">
      <a:majorFont>
        <a:latin typeface="Trebuchet MS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677498_TF66687569" id="{787900FF-6872-4441-B598-37355B1445EE}" vid="{F772BB80-56EE-4656-A7E3-611E117A189E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EA25CC0A0AC24199CDC46C25B8B0BC" ma:contentTypeVersion="10" ma:contentTypeDescription="Create a new document." ma:contentTypeScope="" ma:versionID="e3b47856d4cf355c0dacb39e1084d14f">
  <xsd:schema xmlns:xsd="http://www.w3.org/2001/XMLSchema" xmlns:xs="http://www.w3.org/2001/XMLSchema" xmlns:p="http://schemas.microsoft.com/office/2006/metadata/properties" xmlns:ns1="http://schemas.microsoft.com/sharepoint/v3" xmlns:ns2="6dc4bcd6-49db-4c07-9060-8acfc67cef9f" xmlns:ns3="fb0879af-3eba-417a-a55a-ffe6dcd6ca77" targetNamespace="http://schemas.microsoft.com/office/2006/metadata/properties" ma:root="true" ma:fieldsID="a845a615265fdb1f7b12cc65ac20ecbd" ns1:_="" ns2:_="" ns3:_="">
    <xsd:import namespace="http://schemas.microsoft.com/sharepoint/v3"/>
    <xsd:import namespace="6dc4bcd6-49db-4c07-9060-8acfc67cef9f"/>
    <xsd:import namespace="fb0879af-3eba-417a-a55a-ffe6dcd6ca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1:_ip_UnifiedCompliancePolicyProperties" minOccurs="0"/>
                <xsd:element ref="ns1:_ip_UnifiedCompliancePolicyUIAction" minOccurs="0"/>
                <xsd:element ref="ns2:MediaServiceAuto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c4bcd6-49db-4c07-9060-8acfc67cef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879af-3eba-417a-a55a-ffe6dcd6ca7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3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4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A95DE24-D6C3-4A00-9085-D9594C193A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8992231-163D-4428-A2B8-DA1FE0274129}">
  <ds:schemaRefs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6dc4bcd6-49db-4c07-9060-8acfc67cef9f"/>
    <ds:schemaRef ds:uri="fb0879af-3eba-417a-a55a-ffe6dcd6ca77"/>
    <ds:schemaRef ds:uri="http://schemas.microsoft.com/office/2006/metadata/properties"/>
    <ds:schemaRef ds:uri="http://schemas.microsoft.com/sharepoint/v3"/>
    <ds:schemaRef ds:uri="http://purl.org/dc/terms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B67ACAB-C3DC-429D-A23C-0723C084FEE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dc4bcd6-49db-4c07-9060-8acfc67cef9f"/>
    <ds:schemaRef ds:uri="fb0879af-3eba-417a-a55a-ffe6dcd6ca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Présentation bleue moderne</Template>
  <TotalTime>1026</TotalTime>
  <Words>681</Words>
  <Application>Microsoft Office PowerPoint</Application>
  <PresentationFormat>Grand écran</PresentationFormat>
  <Paragraphs>127</Paragraphs>
  <Slides>20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7" baseType="lpstr">
      <vt:lpstr>Aptos</vt:lpstr>
      <vt:lpstr>Arial</vt:lpstr>
      <vt:lpstr>Calibri</vt:lpstr>
      <vt:lpstr>Times New Roman</vt:lpstr>
      <vt:lpstr>Trade Gothic LT Pro</vt:lpstr>
      <vt:lpstr>Trebuchet MS</vt:lpstr>
      <vt:lpstr>Thème Office</vt:lpstr>
      <vt:lpstr>Présentation de Projet</vt:lpstr>
      <vt:lpstr>Sommaire</vt:lpstr>
      <vt:lpstr>1) Partie personnelle</vt:lpstr>
      <vt:lpstr>2) Collaboration</vt:lpstr>
      <vt:lpstr>3) Diagrammes</vt:lpstr>
      <vt:lpstr>3) Diagrammes</vt:lpstr>
      <vt:lpstr>4) Mesure et calcul de la consommation</vt:lpstr>
      <vt:lpstr>4) Mesure et calcul de la consommation</vt:lpstr>
      <vt:lpstr>5) Site et codes</vt:lpstr>
      <vt:lpstr>5) Site et codes</vt:lpstr>
      <vt:lpstr>6) Schéma et routage</vt:lpstr>
      <vt:lpstr>6) Schéma et routage</vt:lpstr>
      <vt:lpstr>6) Schéma et routage</vt:lpstr>
      <vt:lpstr>Présentation PowerPoint</vt:lpstr>
      <vt:lpstr>6) Assemblage de la carte</vt:lpstr>
      <vt:lpstr>6) Assemblage de la carte</vt:lpstr>
      <vt:lpstr>6) Assemblage de la carte</vt:lpstr>
      <vt:lpstr>7) Problèmes rencontrés</vt:lpstr>
      <vt:lpstr>8) Conclusion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Administrateur Local</dc:creator>
  <cp:lastModifiedBy>Administrateur Local</cp:lastModifiedBy>
  <cp:revision>8</cp:revision>
  <dcterms:created xsi:type="dcterms:W3CDTF">2026-06-04T07:34:07Z</dcterms:created>
  <dcterms:modified xsi:type="dcterms:W3CDTF">2026-06-11T10:14:31Z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0x010100DEEA25CC0A0AC24199CDC46C25B8B0BC</vt:lpwstr>
  </property>
</Properties>
</file>